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1.xml" Type="http://schemas.openxmlformats.org/officeDocument/2006/relationships/slide"/><Relationship Id="rId11" Target="slides/slide2.xml" Type="http://schemas.openxmlformats.org/officeDocument/2006/relationships/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slides/slide6.xml" Type="http://schemas.openxmlformats.org/officeDocument/2006/relationships/slide"/><Relationship Id="rId16" Target="slides/slide7.xml" Type="http://schemas.openxmlformats.org/officeDocument/2006/relationships/slide"/><Relationship Id="rId17" Target="slides/slide8.xml" Type="http://schemas.openxmlformats.org/officeDocument/2006/relationships/slide"/><Relationship Id="rId18" Target="notesSlides/notesSlide1.xml" Type="http://schemas.openxmlformats.org/officeDocument/2006/relationships/notesSlide"/><Relationship Id="rId19" Target="notesSlides/notesSlide2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1524000" y="1122363"/>
            <a:ext cx="9144000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ctr" defTabSz="914400">
              <a:lnSpc>
                <a:spcPct val="91666"/>
              </a:lnSpc>
              <a:defRPr sz="60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91666"/>
              </a:lnSpc>
            </a:pPr>
            <a:r>
              <a:rPr lang="en-US" b="false" i="false" strike="noStrike" u="none" sz="6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1524000" y="3602038"/>
            <a:ext cx="9144000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ctr" defTabSz="914400">
              <a:lnSpc>
                <a:spcPct val="91666"/>
              </a:lnSpc>
              <a:defRPr sz="2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91666"/>
              </a:lnSpc>
              <a:spcBef>
                <a:spcPts val="1000"/>
              </a:spcBef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单击此处编辑母版副标题样式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2026/9/19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10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B322EAF8-D0B2-4D83-8D66-FDCCB02C149B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" type="body" sz="quarter" hasCustomPrompt="true"/>
          </p:nvPr>
        </p:nvSpPr>
        <p:spPr>
          <a:xfrm rot="0" flipH="false" flipV="false"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2" type="body" sz="quarter" hasCustomPrompt="true"/>
          </p:nvPr>
        </p:nvSpPr>
        <p:spPr>
          <a:xfrm rot="0" flipH="false" flipV="false"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914400" marL="584200" indent="-355600">
              <a:lnSpc>
                <a:spcPct val="91666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228600" marL="228600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  <a:p>
            <a:pPr algn="l" lvl="1" indent="-228600" marL="6858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lvl="2" indent="-228600" marL="11430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lvl="3" indent="-228600" marL="16002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  <a:p>
            <a:pPr algn="l" lvl="4" indent="-228600" marL="20574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第五级</a:t>
            </a:r>
          </a:p>
        </p:txBody>
      </p:sp>
      <p:sp>
        <p:nvSpPr>
          <p:cNvPr name="AutoShape 4" id="4"/>
          <p:cNvSpPr/>
          <p:nvPr>
            <p:ph idx="13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2026/9/19</a:t>
            </a:r>
          </a:p>
        </p:txBody>
      </p:sp>
      <p:sp>
        <p:nvSpPr>
          <p:cNvPr name="AutoShape 5" id="5"/>
          <p:cNvSpPr/>
          <p:nvPr>
            <p:ph idx="14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15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C0729E14-AECE-4048-858D-4C1A430ED737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6" type="body" sz="quarter" hasCustomPrompt="true"/>
          </p:nvPr>
        </p:nvSpPr>
        <p:spPr>
          <a:xfrm rot="0" flipH="false" flipV="false">
            <a:off x="831850" y="1709738"/>
            <a:ext cx="10515600" cy="28527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60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6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7" type="body" sz="quarter" hasCustomPrompt="true"/>
          </p:nvPr>
        </p:nvSpPr>
        <p:spPr>
          <a:xfrm rot="0" flipH="false" flipV="false">
            <a:off x="831850" y="4589463"/>
            <a:ext cx="105156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24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  <a:spcBef>
                <a:spcPts val="1000"/>
              </a:spcBef>
            </a:pPr>
            <a:r>
              <a:rPr lang="en-US" b="false" i="false" strike="noStrike" u="none" sz="2400">
                <a:solidFill>
                  <a:srgbClr val="898989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</p:txBody>
      </p:sp>
      <p:sp>
        <p:nvSpPr>
          <p:cNvPr name="AutoShape 4" id="4"/>
          <p:cNvSpPr/>
          <p:nvPr>
            <p:ph idx="18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2026/9/19</a:t>
            </a:r>
          </a:p>
        </p:txBody>
      </p:sp>
      <p:sp>
        <p:nvSpPr>
          <p:cNvPr name="AutoShape 5" id="5"/>
          <p:cNvSpPr/>
          <p:nvPr>
            <p:ph idx="19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20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A587BA42-491B-4C12-9527-2BB93A162704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838200" y="1825625"/>
            <a:ext cx="5181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914400" marL="584200" indent="-355600">
              <a:lnSpc>
                <a:spcPct val="91666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228600" marL="228600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  <a:p>
            <a:pPr algn="l" lvl="1" indent="-228600" marL="6858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lvl="2" indent="-228600" marL="11430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lvl="3" indent="-228600" marL="16002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  <a:p>
            <a:pPr algn="l" lvl="4" indent="-228600" marL="20574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第五级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6172200" y="1825625"/>
            <a:ext cx="5181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914400" marL="584200" indent="-355600">
              <a:lnSpc>
                <a:spcPct val="91666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228600" marL="228600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  <a:p>
            <a:pPr algn="l" lvl="1" indent="-228600" marL="6858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lvl="2" indent="-228600" marL="11430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lvl="3" indent="-228600" marL="16002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  <a:p>
            <a:pPr algn="l" lvl="4" indent="-228600" marL="20574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第五级</a:t>
            </a:r>
          </a:p>
        </p:txBody>
      </p:sp>
      <p:sp>
        <p:nvSpPr>
          <p:cNvPr name="AutoShape 5" id="5"/>
          <p:cNvSpPr/>
          <p:nvPr>
            <p:ph idx="24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2026/9/19</a:t>
            </a:r>
          </a:p>
        </p:txBody>
      </p:sp>
      <p:sp>
        <p:nvSpPr>
          <p:cNvPr name="AutoShape 6" id="6"/>
          <p:cNvSpPr/>
          <p:nvPr>
            <p:ph idx="25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7" id="7"/>
          <p:cNvSpPr/>
          <p:nvPr>
            <p:ph idx="26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D6586B75-94DC-4E55-949A-87764E20D282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body" sz="quarter" hasCustomPrompt="true"/>
          </p:nvPr>
        </p:nvSpPr>
        <p:spPr>
          <a:xfrm rot="0" flipH="false" flipV="false">
            <a:off x="839788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839788" y="1681163"/>
            <a:ext cx="5157787" cy="823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  <a:spcBef>
                <a:spcPts val="1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</p:txBody>
      </p:sp>
      <p:sp>
        <p:nvSpPr>
          <p:cNvPr name="AutoShape 4" id="4"/>
          <p:cNvSpPr/>
          <p:nvPr>
            <p:ph idx="29" type="body" sz="quarter" hasCustomPrompt="true"/>
          </p:nvPr>
        </p:nvSpPr>
        <p:spPr>
          <a:xfrm rot="0" flipH="false" flipV="false">
            <a:off x="839788" y="2505075"/>
            <a:ext cx="5157787" cy="3684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914400" marL="584200" indent="-355600">
              <a:lnSpc>
                <a:spcPct val="91666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228600" marL="228600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  <a:p>
            <a:pPr algn="l" lvl="1" indent="-228600" marL="6858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lvl="2" indent="-228600" marL="11430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lvl="3" indent="-228600" marL="16002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  <a:p>
            <a:pPr algn="l" lvl="4" indent="-228600" marL="20574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第五级</a:t>
            </a:r>
          </a:p>
        </p:txBody>
      </p:sp>
      <p:sp>
        <p:nvSpPr>
          <p:cNvPr name="AutoShape 5" id="5"/>
          <p:cNvSpPr/>
          <p:nvPr>
            <p:ph idx="30" type="body" sz="quarter" hasCustomPrompt="true"/>
          </p:nvPr>
        </p:nvSpPr>
        <p:spPr>
          <a:xfrm rot="0" flipH="false" flipV="false">
            <a:off x="6172200" y="1681163"/>
            <a:ext cx="5183188" cy="823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l" defTabSz="914400">
              <a:lnSpc>
                <a:spcPct val="91666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  <a:spcBef>
                <a:spcPts val="1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</p:txBody>
      </p:sp>
      <p:sp>
        <p:nvSpPr>
          <p:cNvPr name="AutoShape 6" id="6"/>
          <p:cNvSpPr/>
          <p:nvPr>
            <p:ph idx="31" type="body" sz="quarter" hasCustomPrompt="true"/>
          </p:nvPr>
        </p:nvSpPr>
        <p:spPr>
          <a:xfrm rot="0" flipH="false" flipV="false">
            <a:off x="6172200" y="2505075"/>
            <a:ext cx="5183188" cy="3684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914400" marL="584200" indent="-355600">
              <a:lnSpc>
                <a:spcPct val="91666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228600" marL="228600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  <a:p>
            <a:pPr algn="l" lvl="1" indent="-228600" marL="6858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lvl="2" indent="-228600" marL="11430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lvl="3" indent="-228600" marL="16002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  <a:p>
            <a:pPr algn="l" lvl="4" indent="-228600" marL="20574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第五级</a:t>
            </a:r>
          </a:p>
        </p:txBody>
      </p:sp>
      <p:sp>
        <p:nvSpPr>
          <p:cNvPr name="AutoShape 7" id="7"/>
          <p:cNvSpPr/>
          <p:nvPr>
            <p:ph idx="32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2026/9/19</a:t>
            </a:r>
          </a:p>
        </p:txBody>
      </p:sp>
      <p:sp>
        <p:nvSpPr>
          <p:cNvPr name="AutoShape 8" id="8"/>
          <p:cNvSpPr/>
          <p:nvPr>
            <p:ph idx="33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9" id="9"/>
          <p:cNvSpPr/>
          <p:nvPr>
            <p:ph idx="34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08528D4C-9FEC-46BA-9CFF-FF33EF59545C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5" type="body" sz="quarter" hasCustomPrompt="true"/>
          </p:nvPr>
        </p:nvSpPr>
        <p:spPr>
          <a:xfrm rot="0" flipH="false" flipV="false"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36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2026/9/19</a:t>
            </a:r>
          </a:p>
        </p:txBody>
      </p:sp>
      <p:sp>
        <p:nvSpPr>
          <p:cNvPr name="AutoShape 4" id="4"/>
          <p:cNvSpPr/>
          <p:nvPr>
            <p:ph idx="37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5" id="5"/>
          <p:cNvSpPr/>
          <p:nvPr>
            <p:ph idx="38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1D6CFB51-B9AA-4F82-8892-AC15892B3503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9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2026/9/19</a:t>
            </a:r>
          </a:p>
        </p:txBody>
      </p:sp>
      <p:sp>
        <p:nvSpPr>
          <p:cNvPr name="AutoShape 3" id="3"/>
          <p:cNvSpPr/>
          <p:nvPr>
            <p:ph idx="40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41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8480068D-216F-48CB-B29E-B76222CE00C3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" type="body" sz="quarter" hasCustomPrompt="true"/>
          </p:nvPr>
        </p:nvSpPr>
        <p:spPr>
          <a:xfrm rot="0" flipH="false" flipV="false">
            <a:off x="839788" y="457200"/>
            <a:ext cx="3932237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43" type="body" sz="quarter" hasCustomPrompt="true"/>
          </p:nvPr>
        </p:nvSpPr>
        <p:spPr>
          <a:xfrm rot="0" flipH="false" flipV="false">
            <a:off x="5183188" y="987425"/>
            <a:ext cx="6172200" cy="4873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914400" marL="635000" indent="-406400">
              <a:lnSpc>
                <a:spcPct val="91666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04140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228600" marL="228600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32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  <a:p>
            <a:pPr algn="l" lvl="1" indent="-228600" marL="6858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lvl="2" indent="-228600" marL="11430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lvl="3" indent="-228600" marL="16002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  <a:p>
            <a:pPr algn="l" lvl="4" indent="-228600" marL="20574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第五级</a:t>
            </a:r>
          </a:p>
        </p:txBody>
      </p:sp>
      <p:sp>
        <p:nvSpPr>
          <p:cNvPr name="AutoShape 4" id="4"/>
          <p:cNvSpPr/>
          <p:nvPr>
            <p:ph idx="44" type="body" sz="quarter" hasCustomPrompt="true"/>
          </p:nvPr>
        </p:nvSpPr>
        <p:spPr>
          <a:xfrm rot="0" flipH="false" flipV="false">
            <a:off x="839788" y="2057400"/>
            <a:ext cx="3932237" cy="3811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914400">
              <a:lnSpc>
                <a:spcPct val="91666"/>
              </a:lnSpc>
              <a:defRPr sz="16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  <a:spcBef>
                <a:spcPts val="1000"/>
              </a:spcBef>
            </a:pP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</p:txBody>
      </p:sp>
      <p:sp>
        <p:nvSpPr>
          <p:cNvPr name="AutoShape 5" id="5"/>
          <p:cNvSpPr/>
          <p:nvPr>
            <p:ph idx="45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2026/9/19</a:t>
            </a:r>
          </a:p>
        </p:txBody>
      </p:sp>
      <p:sp>
        <p:nvSpPr>
          <p:cNvPr name="AutoShape 6" id="6"/>
          <p:cNvSpPr/>
          <p:nvPr>
            <p:ph idx="46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7" id="7"/>
          <p:cNvSpPr/>
          <p:nvPr>
            <p:ph idx="47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6D16F51C-75F9-4270-BB1B-BB6D7F862A02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8" type="body" sz="quarter" hasCustomPrompt="true"/>
          </p:nvPr>
        </p:nvSpPr>
        <p:spPr>
          <a:xfrm rot="0" flipH="false" flipV="false">
            <a:off x="839788" y="457200"/>
            <a:ext cx="3932237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49" type="pic" sz="quarter"/>
          </p:nvPr>
        </p:nvSpPr>
        <p:spPr>
          <a:xfrm rot="0" flipH="false" flipV="false">
            <a:off x="5183188" y="987425"/>
            <a:ext cx="6172200" cy="4873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50" type="body" sz="quarter" hasCustomPrompt="true"/>
          </p:nvPr>
        </p:nvSpPr>
        <p:spPr>
          <a:xfrm rot="0" flipH="false" flipV="false">
            <a:off x="839788" y="2057400"/>
            <a:ext cx="3932237" cy="3811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914400">
              <a:lnSpc>
                <a:spcPct val="91666"/>
              </a:lnSpc>
              <a:defRPr sz="16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  <a:spcBef>
                <a:spcPts val="1000"/>
              </a:spcBef>
            </a:pP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</p:txBody>
      </p:sp>
      <p:sp>
        <p:nvSpPr>
          <p:cNvPr name="AutoShape 5" id="5"/>
          <p:cNvSpPr/>
          <p:nvPr>
            <p:ph idx="51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2026/9/19</a:t>
            </a:r>
          </a:p>
        </p:txBody>
      </p:sp>
      <p:sp>
        <p:nvSpPr>
          <p:cNvPr name="AutoShape 6" id="6"/>
          <p:cNvSpPr/>
          <p:nvPr>
            <p:ph idx="52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7" id="7"/>
          <p:cNvSpPr/>
          <p:nvPr>
            <p:ph idx="53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58B4DE0E-E912-4FD6-AF22-B575789351D4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4" type="body" sz="quarter" hasCustomPrompt="true"/>
          </p:nvPr>
        </p:nvSpPr>
        <p:spPr>
          <a:xfrm rot="0" flipH="false" flipV="false"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55" type="body" sz="quarter" hasCustomPrompt="true"/>
          </p:nvPr>
        </p:nvSpPr>
        <p:spPr>
          <a:xfrm rot="0" flipH="false" flipV="false"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eaVert" wrap="square" lIns="91440" rIns="91440" tIns="45720" bIns="45720">
            <a:normAutofit lnSpcReduction="0"/>
          </a:bodyPr>
          <a:lstStyle>
            <a:lvl1pPr algn="l" defTabSz="914400" marL="584200" indent="-355600">
              <a:lnSpc>
                <a:spcPct val="91666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228600" marL="228600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  <a:p>
            <a:pPr algn="l" lvl="1" indent="-228600" marL="6858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lvl="2" indent="-228600" marL="11430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lvl="3" indent="-228600" marL="16002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  <a:p>
            <a:pPr algn="l" lvl="4" indent="-228600" marL="20574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第五级</a:t>
            </a:r>
          </a:p>
        </p:txBody>
      </p:sp>
      <p:sp>
        <p:nvSpPr>
          <p:cNvPr name="AutoShape 4" id="4"/>
          <p:cNvSpPr/>
          <p:nvPr>
            <p:ph idx="56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2026/9/19</a:t>
            </a:r>
          </a:p>
        </p:txBody>
      </p:sp>
      <p:sp>
        <p:nvSpPr>
          <p:cNvPr name="AutoShape 5" id="5"/>
          <p:cNvSpPr/>
          <p:nvPr>
            <p:ph idx="57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58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F504CD1B-F369-42A3-BFCC-7BF2F6F620D5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9" type="body" sz="quarter" hasCustomPrompt="true"/>
          </p:nvPr>
        </p:nvSpPr>
        <p:spPr>
          <a:xfrm rot="0" flipH="false" flipV="false">
            <a:off x="8724900" y="365125"/>
            <a:ext cx="2628900" cy="58118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eaVert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60" type="body" sz="quarter" hasCustomPrompt="true"/>
          </p:nvPr>
        </p:nvSpPr>
        <p:spPr>
          <a:xfrm rot="0" flipH="false" flipV="false">
            <a:off x="838200" y="365125"/>
            <a:ext cx="7734300" cy="58118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eaVert" wrap="square" lIns="91440" rIns="91440" tIns="45720" bIns="45720">
            <a:normAutofit lnSpcReduction="0"/>
          </a:bodyPr>
          <a:lstStyle>
            <a:lvl1pPr algn="l" defTabSz="914400" marL="584200" indent="-355600">
              <a:lnSpc>
                <a:spcPct val="91666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228600" marL="228600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  <a:p>
            <a:pPr algn="l" lvl="1" indent="-228600" marL="6858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lvl="2" indent="-228600" marL="11430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lvl="3" indent="-228600" marL="16002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  <a:p>
            <a:pPr algn="l" lvl="4" indent="-228600" marL="20574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第五级</a:t>
            </a:r>
          </a:p>
        </p:txBody>
      </p:sp>
      <p:sp>
        <p:nvSpPr>
          <p:cNvPr name="AutoShape 4" id="4"/>
          <p:cNvSpPr/>
          <p:nvPr>
            <p:ph idx="61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2026/9/19</a:t>
            </a:r>
          </a:p>
        </p:txBody>
      </p:sp>
      <p:sp>
        <p:nvSpPr>
          <p:cNvPr name="AutoShape 5" id="5"/>
          <p:cNvSpPr/>
          <p:nvPr>
            <p:ph idx="62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63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66BB9AC9-785D-49BA-A974-2312BE450A97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10" Target="../slideLayouts/slideLayout21.xml" Type="http://schemas.openxmlformats.org/officeDocument/2006/relationships/slideLayout"/><Relationship Id="rId11" Target="../slideLayouts/slideLayout22.xml" Type="http://schemas.openxmlformats.org/officeDocument/2006/relationships/slideLayout"/><Relationship Id="rId12" Target="../slideLayouts/slideLayout23.xml" Type="http://schemas.openxmlformats.org/officeDocument/2006/relationships/slideLayout"/><Relationship Id="rId2" Target="../slideLayouts/slideLayout13.xml" Type="http://schemas.openxmlformats.org/officeDocument/2006/relationships/slideLayout"/><Relationship Id="rId3" Target="../slideLayouts/slideLayout14.xml" Type="http://schemas.openxmlformats.org/officeDocument/2006/relationships/slideLayout"/><Relationship Id="rId4" Target="../slideLayouts/slideLayout15.xml" Type="http://schemas.openxmlformats.org/officeDocument/2006/relationships/slideLayout"/><Relationship Id="rId5" Target="../slideLayouts/slideLayout16.xml" Type="http://schemas.openxmlformats.org/officeDocument/2006/relationships/slideLayout"/><Relationship Id="rId6" Target="../slideLayouts/slideLayout17.xml" Type="http://schemas.openxmlformats.org/officeDocument/2006/relationships/slideLayout"/><Relationship Id="rId7" Target="../slideLayouts/slideLayout18.xml" Type="http://schemas.openxmlformats.org/officeDocument/2006/relationships/slideLayout"/><Relationship Id="rId8" Target="../slideLayouts/slideLayout19.xml" Type="http://schemas.openxmlformats.org/officeDocument/2006/relationships/slideLayout"/><Relationship Id="rId9" Target="../slideLayouts/slideLayout20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WPS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>
            <p:ph idx="1" type="body" sz="quarter" hasCustomPrompt="true"/>
          </p:nvPr>
        </p:nvSpPr>
        <p:spPr>
          <a:xfrm rot="0" flipH="false" flipV="false"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l" defTabSz="914400">
              <a:lnSpc>
                <a:spcPct val="91666"/>
              </a:lnSpc>
              <a:defRPr sz="4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 defTabSz="914400">
              <a:lnSpc>
                <a:spcPct val="91666"/>
              </a:lnSpc>
            </a:pPr>
            <a:r>
              <a:rPr lang="en-US" b="true" i="false" strike="noStrike" u="none" sz="4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2" id="2"/>
          <p:cNvSpPr/>
          <p:nvPr>
            <p:ph idx="2" type="body" sz="quarter" hasCustomPrompt="true"/>
          </p:nvPr>
        </p:nvSpPr>
        <p:spPr>
          <a:xfrm rot="0" flipH="false" flipV="false"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rmAutofit lnSpcReduction="0"/>
          </a:bodyPr>
          <a:lstStyle>
            <a:lvl1pPr algn="l" defTabSz="914400" marL="584200" indent="-355600">
              <a:lnSpc>
                <a:spcPct val="91666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228600" marL="228600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单击此处编辑母版文本样式</a:t>
            </a:r>
          </a:p>
          <a:p>
            <a:pPr algn="l" lvl="1" indent="-228600" marL="6858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lvl="2" indent="-228600" marL="11430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lvl="3" indent="-228600" marL="16002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  <a:p>
            <a:pPr algn="l" lvl="4" indent="-228600" marL="2057400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第五级</a:t>
            </a:r>
          </a:p>
        </p:txBody>
      </p:sp>
      <p:sp>
        <p:nvSpPr>
          <p:cNvPr name="AutoShape 3" id="3"/>
          <p:cNvSpPr/>
          <p:nvPr>
            <p:ph idx="3" type="body" sz="quarter" hasCustomPrompt="true"/>
          </p:nvPr>
        </p:nvSpPr>
        <p:spPr>
          <a:xfrm rot="0" flipH="false" flipV="false"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2026/9/19</a:t>
            </a:r>
          </a:p>
        </p:txBody>
      </p:sp>
      <p:sp>
        <p:nvSpPr>
          <p:cNvPr name="AutoShape 4" id="4"/>
          <p:cNvSpPr/>
          <p:nvPr>
            <p:ph idx="4" type="body" sz="quarter" hasCustomPrompt="true"/>
          </p:nvPr>
        </p:nvSpPr>
        <p:spPr>
          <a:xfrm rot="0" flipH="false" flipV="false"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5" type="body" sz="quarter" hasCustomPrompt="true"/>
          </p:nvPr>
        </p:nvSpPr>
        <p:spPr>
          <a:xfrm rot="0" flipH="false" flipV="false"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EBFB8B9D-A149-4A3B-A4E2-DCFDA7479854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  <p:sldLayoutId id="215748371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826000" y="1905000"/>
            <a:ext cx="2540000" cy="76200"/>
          </a:xfrm>
          <a:prstGeom prst="roundRect">
            <a:avLst>
              <a:gd name="adj" fmla="val 0"/>
            </a:avLst>
          </a:prstGeom>
          <a:solidFill>
            <a:srgbClr val="4F46E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91666"/>
              </a:lnSpc>
              <a:defRPr/>
            </a:pPr>
            <a:r>
              <a:rPr lang="en-US" b="true" i="false" strike="noStrike" u="none" sz="56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AI Dance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619500"/>
            <a:ext cx="1016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实时人体动作捕捉与评分系统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572000"/>
            <a:ext cx="1016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787882"/>
                </a:solidFill>
                <a:latin typeface="Noto Sans SC"/>
                <a:ea typeface="Noto Sans SC"/>
                <a:cs typeface="Noto Sans SC"/>
                <a:sym typeface="Noto Sans SC"/>
              </a:rPr>
              <a:t>Web 摄像头 · MediaPipe · Three.js · 骨骼归一化与动作评分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38200" y="457200"/>
            <a:ext cx="105156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6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整体思路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6570" flipH="false" flipV="false">
            <a:off x="838234" y="1238250"/>
            <a:ext cx="1193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F46E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318000" y="1168400"/>
            <a:ext cx="3556000" cy="5283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38200" y="406400"/>
            <a:ext cx="105156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开发里程碑（M0 – M5）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6570" flipH="false" flipV="false">
            <a:off x="838234" y="1111250"/>
            <a:ext cx="1193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F46E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838200" y="1320800"/>
          <a:ext cx="10515600" cy="482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4572000"/>
                <a:gridCol w="4038600"/>
              </a:tblGrid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里程碑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完成的硬标准（Definition of Done）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E1B4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M0 跑起来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下载 pose_landmarker_full.task + .wasm 放本地；静态托管 frontend_dis/；摄像头点亮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浏览器里出画面，控制台无报错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E1B4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M1 出数据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MediaPipe Tasks PoseLandmarker 放 Web Worker + GPU delegate；拿到 33 world landmarks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每帧能打印 33 个 (x,y,z)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812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E1B4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M2 归一化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写 contract.js（§2 骨骼索引 + §1 坐标轴标定），把 landmark 转成 9 条骨骼单位向量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标定测试：右手抬起 → upper_arm_r 的 y 变大；转身/侧身不镜像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E1B4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M3 画火柴人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2D canvas 画 9 条骨骼连线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30fps 不卡，画面跟手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E1B4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M4 消抖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加一个轻量滤波（EMA 或 One Euro），别用重 Kalman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肉眼：手静止时线不抖，挥手时线不"拖尾巴"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E1B4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M5 发布接口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暴露 startPoseStream({ onFrame })，产出契约 §3 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队友能拿到一帧 {t, bones, rootYaw, conf}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38200" y="406400"/>
            <a:ext cx="105156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MediaPipe 媒体管道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6570" flipH="false" flipV="false">
            <a:off x="838234" y="1111250"/>
            <a:ext cx="1193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F46E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838200" y="1371600"/>
            <a:ext cx="6223000" cy="482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90500" marL="190500">
              <a:lnSpc>
                <a:spcPct val="125000"/>
              </a:lnSpc>
              <a:buClr>
                <a:srgbClr val="333333"/>
              </a:buClr>
              <a:buChar char="•"/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pose_landmarker_full.task（8.96 MB）</a:t>
            </a: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：Google MediaPipe 官方的"人体姿态检测"模型。</a:t>
            </a:r>
            <a:endParaRPr lang="en-US" sz="1100"/>
          </a:p>
          <a:p>
            <a:pPr algn="l" indent="-190500" marL="190500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MediaPipe</a:t>
            </a: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：Google 的"设备端 AI"框架，专门做轻量、能在浏览器/手机本地跑的模型。</a:t>
            </a:r>
          </a:p>
          <a:p>
            <a:pPr algn="l" indent="-190500" marL="190500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底层叫 BlazePose</a:t>
            </a: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：Google 专门为人体姿态设计的神经网络。</a:t>
            </a:r>
          </a:p>
          <a:p>
            <a:pPr algn="l" indent="-190500" marL="190500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.task 是一种打包格式</a:t>
            </a: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：把模型本身 + 输入输出规格 + 元数据打成一个文件，浏览器里用 WebAssembly + WebGL 就能加载运行，不需要服务器、不需要 Python。</a:t>
            </a:r>
          </a:p>
          <a:p>
            <a:pPr algn="l" indent="-190500" marL="190500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它干一件事</a:t>
            </a: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：输入一张图片（或一帧视频），输出人体上的 33 个关键点。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493000" y="14986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三个档位对比</a:t>
            </a:r>
            <a:endParaRPr lang="en-US" sz="1100"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7493000" y="1981200"/>
          <a:ext cx="3937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1016000"/>
                <a:gridCol w="1397000"/>
              </a:tblGrid>
              <a:tr h="482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版本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大小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特点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lite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~5 MB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快，精度低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E1B4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full（当前）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E1B4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~9 MB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E1B4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精度/速度平衡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heavy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~26 MB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最准，最慢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38200" y="381000"/>
            <a:ext cx="10515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0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33 个 World Landmark 从哪来、代表什么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6570" flipH="false" flipV="false">
            <a:off x="838234" y="1060450"/>
            <a:ext cx="1193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F46E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838200" y="1270000"/>
            <a:ext cx="5969000" cy="317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代表什么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：33 个点是人体解剖位置——鼻子、眼睛、耳朵、肩膀、手肘、手腕、指尖、髋、膝盖、脚踝、脚。每个点有固定编号（0–32），比如右肩 = 12、右肘 = 14、右腕 = 16。</a:t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从哪来——分两步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algn="l" indent="-177800" marL="177800">
              <a:lnSpc>
                <a:spcPct val="120833"/>
              </a:lnSpc>
              <a:buClr>
                <a:srgbClr val="333333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先找人在哪：一个"人体检测器"在画面里框出这个人；</a:t>
            </a:r>
          </a:p>
          <a:p>
            <a:pPr algn="l" indent="-177800" marL="177800">
              <a:lnSpc>
                <a:spcPct val="120833"/>
              </a:lnSpc>
              <a:buClr>
                <a:srgbClr val="333333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再在框里估 33 个点：另一个网络在这个人身上回归出 33 个关键点的位置。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112000" y="1270000"/>
            <a:ext cx="4241800" cy="3175000"/>
          </a:xfrm>
          <a:prstGeom prst="roundRect">
            <a:avLst>
              <a:gd name="adj" fmla="val 0"/>
            </a:avLst>
          </a:prstGeom>
          <a:solidFill>
            <a:srgbClr val="EEF2FF">
              <a:alpha val="100000"/>
            </a:srgbClr>
          </a:solidFill>
          <a:ln w="12700" cmpd="sng" cap="flat">
            <a:solidFill>
              <a:srgbClr val="C7D2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340600" y="1447800"/>
            <a:ext cx="3784600" cy="284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4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单目摄像头只能拍到 2D，模型怎么给出"米"为单位的 3D？</a:t>
            </a:r>
            <a:r>
              <a:rPr lang="en-US" b="false" i="false" strike="noStrike" u="none" sz="14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4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答案是：BlazePose 内部套了一个统计人体模型（GHUM）。它被喂过海量的真人 3D 动捕数据，学会了"一个合理的人体 3D 姿势长什么样"。所以它拿到 2D 的点之后，会把这些 2D 点"抬"到 3D，即拟合到一个它认为最可能的人体 3D 姿态上。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38200" y="4673600"/>
          <a:ext cx="10515600" cy="1397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794000"/>
                <a:gridCol w="3683000"/>
                <a:gridCol w="4038600"/>
              </a:tblGrid>
              <a:tr h="482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类型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坐标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含义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landmarks（归一化）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x,y ∈ [0,1]，z 是相对值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贴在 2D 画面上的位置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E1B4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worldLandmarks（世界坐标）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E1B4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x,y,z 单位是米，原点在髋中点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E1B4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模型估计的"真实 3D 姿态"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38200" y="406400"/>
            <a:ext cx="105156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归一化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6570" flipH="false" flipV="false">
            <a:off x="838234" y="1111250"/>
            <a:ext cx="1193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F46E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838200" y="1320800"/>
            <a:ext cx="5969000" cy="482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什么是"归一化"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：把原始坐标，变成"骨骼方向单位向量"。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举个具体例子，upper_arm_r（右肩→右肘）：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333333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原始数据：右肩 (0.3, 1.4, -0.2)，右肘 (0.35, 1.1, -0.18)——这些是"米"为单位的绝对位置；</a:t>
            </a:r>
          </a:p>
          <a:p>
            <a:pPr algn="l" indent="-177800" marL="177800">
              <a:lnSpc>
                <a:spcPct val="125000"/>
              </a:lnSpc>
              <a:buClr>
                <a:srgbClr val="333333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算向量：右肘 − 右肩 = (0.05, -0.3, 0.02)；</a:t>
            </a:r>
          </a:p>
          <a:p>
            <a:pPr algn="l" indent="-177800" marL="177800">
              <a:lnSpc>
                <a:spcPct val="125000"/>
              </a:lnSpc>
              <a:buClr>
                <a:srgbClr val="333333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除以这个向量的长度，得到长度为 1 的向量（单位向量）。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112000" y="1320800"/>
            <a:ext cx="4241800" cy="4826000"/>
          </a:xfrm>
          <a:prstGeom prst="roundRect">
            <a:avLst>
              <a:gd name="adj" fmla="val 0"/>
            </a:avLst>
          </a:prstGeom>
          <a:solidFill>
            <a:srgbClr val="EEF2FF">
              <a:alpha val="100000"/>
            </a:srgbClr>
          </a:solidFill>
          <a:ln w="12700" cmpd="sng" cap="flat">
            <a:solidFill>
              <a:srgbClr val="C7D2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340600" y="1498600"/>
            <a:ext cx="3784600" cy="447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为什么要做第 3 步？</a:t>
            </a:r>
            <a:r>
              <a:rPr lang="en-US" b="false" i="false" strike="noStrike" u="none" sz="14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因为它让数据获得两个关键的不变性：</a:t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1E1B4B"/>
              </a:buClr>
              <a:buChar char="•"/>
            </a:pPr>
            <a:r>
              <a:rPr lang="en-US" b="true" i="false" strike="noStrike" u="none" sz="14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平移不变</a:t>
            </a:r>
            <a:r>
              <a:rPr lang="en-US" b="false" i="false" strike="noStrike" u="none" sz="14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：两个人相减，消掉了"人站在画面哪个位置"的影响。</a:t>
            </a:r>
          </a:p>
          <a:p>
            <a:pPr algn="l" indent="-177800" marL="177800">
              <a:lnSpc>
                <a:spcPct val="125000"/>
              </a:lnSpc>
              <a:buClr>
                <a:srgbClr val="1E1B4B"/>
              </a:buClr>
              <a:buChar char="•"/>
            </a:pPr>
            <a:r>
              <a:rPr lang="en-US" b="true" i="false" strike="noStrike" u="none" sz="14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缩放不变</a:t>
            </a:r>
            <a:r>
              <a:rPr lang="en-US" b="false" i="false" strike="noStrike" u="none" sz="14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：除以长度，消掉了"人高矮、离镜头远近"的影响。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结果就是：一个 1.9 米的人站得近，和一个 1.6 米的人站得远，只要做同样的挥手动作，upper_arm_r 这个向量几乎一样。评分就能公平地比"动作像不像"，而不是比"谁站得近、谁长得高"。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</a:t>
            </a:r>
            <a:r>
              <a:rPr lang="en-US" b="false" i="false" strike="noStrike" u="none" sz="14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：归一化 = 把"绝对位置（会被身高、距离污染）"转成"骨骼指向（只看姿势）"。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38200" y="381000"/>
            <a:ext cx="10515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0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坐标轴标定与锁定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6570" flipH="false" flipV="false">
            <a:off x="838234" y="1060450"/>
            <a:ext cx="1193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F46E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838200" y="1244600"/>
            <a:ext cx="10515600" cy="292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归一化解决了"长度/位置"的问题，但还剩一个更隐蔽的问题：</a:t>
            </a: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方向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。我们做实验发现：MediaPipe 给出来的原始世界坐标，它的 x、y、z 三个轴的方向和我们想要的是全反的。</a:t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"标定"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：通过物理实验（抬右手、伸右手），确定每个轴到底朝哪，然后把需要翻转的轴记录下来。</a:t>
            </a:r>
          </a:p>
          <a:p>
            <a:pPr algn="l" marL="0" indent="0">
              <a:lnSpc>
                <a:spcPct val="120833"/>
              </a:lnSpc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"锁定"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：把 {x:-1, y:-1, z:-1} 写进唯一一个地方（contract.js 的 AXIS_FLIP），并约定——你的实时管线用这个翻转；队友的离线参考管线也必须用同样的翻转。</a:t>
            </a:r>
          </a:p>
          <a:p>
            <a:pPr algn="l" marL="0" indent="0">
              <a:lnSpc>
                <a:spcPct val="120833"/>
              </a:lnSpc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为什么必须锁定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：如果两边不统一，你抬右手，在评分系统看来是"抬左手还往下"，评分直接全错。标定不是"调对了就行"，而是要固化成一条双方都必须遵守的合同条款。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651000" y="4318000"/>
          <a:ext cx="8890000" cy="203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4064000"/>
                <a:gridCol w="3429000"/>
              </a:tblGrid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MediaPipe 原始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我们想要的（Canonical）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E1B4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y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朝下（手臂下垂时 y≈+0.9）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4F46E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朝上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E1B4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x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朝表演者左侧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4F46E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朝表演者右侧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E1B4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z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朝远离镜头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4F46E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朝镜头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38200" y="457200"/>
            <a:ext cx="105156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32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技术链路总结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6570" flipH="false" flipV="false">
            <a:off x="838234" y="1162050"/>
            <a:ext cx="1193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F46E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508000" y="2286000"/>
            <a:ext cx="1905000" cy="1651000"/>
          </a:xfrm>
          <a:prstGeom prst="roundRect">
            <a:avLst>
              <a:gd name="adj" fmla="val 9230"/>
            </a:avLst>
          </a:prstGeom>
          <a:solidFill>
            <a:srgbClr val="EEF2FF">
              <a:alpha val="100000"/>
            </a:srgbClr>
          </a:solidFill>
          <a:ln w="12700" cmpd="sng" cap="flat">
            <a:solidFill>
              <a:srgbClr val="C7D2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35000" y="2514600"/>
            <a:ext cx="165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① BlazePose</a:t>
            </a:r>
            <a:r>
              <a:rPr lang="en-US" b="false" i="false" strike="noStrike" u="none" sz="14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从 2D 画面"猜"出 33 个 3D 点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667000" y="2286000"/>
            <a:ext cx="1905000" cy="1651000"/>
          </a:xfrm>
          <a:prstGeom prst="roundRect">
            <a:avLst>
              <a:gd name="adj" fmla="val 9230"/>
            </a:avLst>
          </a:prstGeom>
          <a:solidFill>
            <a:srgbClr val="EEF2FF">
              <a:alpha val="100000"/>
            </a:srgbClr>
          </a:solidFill>
          <a:ln w="12700" cmpd="sng" cap="flat">
            <a:solidFill>
              <a:srgbClr val="C7D2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794000" y="2514600"/>
            <a:ext cx="165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② 取骨骼</a:t>
            </a:r>
            <a:r>
              <a:rPr lang="en-US" b="false" i="false" strike="noStrike" u="none" sz="14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取其中一部分算骨骼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826000" y="2286000"/>
            <a:ext cx="1905000" cy="1651000"/>
          </a:xfrm>
          <a:prstGeom prst="roundRect">
            <a:avLst>
              <a:gd name="adj" fmla="val 9230"/>
            </a:avLst>
          </a:prstGeom>
          <a:solidFill>
            <a:srgbClr val="EEF2FF">
              <a:alpha val="100000"/>
            </a:srgbClr>
          </a:solidFill>
          <a:ln w="12700" cmpd="sng" cap="flat">
            <a:solidFill>
              <a:srgbClr val="C7D2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953000" y="2514600"/>
            <a:ext cx="165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③ 标定轴向</a:t>
            </a:r>
            <a:r>
              <a:rPr lang="en-US" b="false" i="false" strike="noStrike" u="none" sz="14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统一坐标轴方向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985000" y="2286000"/>
            <a:ext cx="1905000" cy="1651000"/>
          </a:xfrm>
          <a:prstGeom prst="roundRect">
            <a:avLst>
              <a:gd name="adj" fmla="val 9230"/>
            </a:avLst>
          </a:prstGeom>
          <a:solidFill>
            <a:srgbClr val="EEF2FF">
              <a:alpha val="100000"/>
            </a:srgbClr>
          </a:solidFill>
          <a:ln w="12700" cmpd="sng" cap="flat">
            <a:solidFill>
              <a:srgbClr val="C7D2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112000" y="2514600"/>
            <a:ext cx="165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>④ 归一化</a:t>
            </a:r>
            <a:r>
              <a:rPr lang="en-US" b="false" i="false" strike="noStrike" u="none" sz="1400">
                <a:solidFill>
                  <a:srgbClr val="1E1B4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每根骨头压成单位向量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144000" y="2286000"/>
            <a:ext cx="2540000" cy="1651000"/>
          </a:xfrm>
          <a:prstGeom prst="roundRect">
            <a:avLst>
              <a:gd name="adj" fmla="val 9230"/>
            </a:avLst>
          </a:prstGeom>
          <a:solidFill>
            <a:srgbClr val="4F46E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296400" y="2514600"/>
            <a:ext cx="2235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⑤ 契约帧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E0E7FF"/>
                </a:solidFill>
                <a:latin typeface="Noto Sans SC"/>
                <a:ea typeface="Noto Sans SC"/>
                <a:cs typeface="Noto Sans SC"/>
                <a:sym typeface="Noto Sans SC"/>
              </a:rPr>
              <a:t>只看姿势，不受身高/距离/朝向影响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8260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模型（Google 的 BlazePose）从 2D 画面"猜"出 33 个 3D 点 → 我们取其中一部分算骨骼 → 标定统一坐标轴方向 → 归一化把每根骨头压成单位向量 → 得到一份"只看姿势、不受身高距离朝向影响"的契约帧。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WP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