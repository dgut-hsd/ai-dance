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4" r:id="rId11"/>
    <p:sldId id="261" r:id="rId12"/>
    <p:sldId id="262" r:id="rId13"/>
    <p:sldId id="263" r:id="rId14"/>
    <p:sldId id="266" r:id="rId15"/>
    <p:sldId id="267" r:id="rId16"/>
    <p:sldId id="265" r:id="rId17"/>
    <p:sldId id="268" r:id="rId18"/>
    <p:sldId id="26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 defTabSz="914400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914400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B322EAF8-D0B2-4D83-8D66-FDCCB02C149B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2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C0729E14-AECE-4048-858D-4C1A430ED737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7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914400">
              <a:lnSpc>
                <a:spcPct val="92000"/>
              </a:lnSpc>
              <a:defRPr sz="2400" b="0" i="0" u="none" strike="noStrike" spc="0">
                <a:solidFill>
                  <a:srgbClr val="89898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400" b="0" i="0" u="none" strike="noStrike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A587BA42-491B-4C12-9527-2BB93A162704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D6586B75-94DC-4E55-949A-87764E20D282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28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4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29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30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914400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4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3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8528D4C-9FEC-46BA-9CFF-FF33EF59545C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1D6CFB51-B9AA-4F82-8892-AC15892B3503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8480068D-216F-48CB-B29E-B76222CE00C3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43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35000" indent="-406400" algn="l" defTabSz="914400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4140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3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44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6D16F51C-75F9-4270-BB1B-BB6D7F862A02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58B4DE0E-E912-4FD6-AF22-B575789351D4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5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F504CD1B-F369-42A3-BFCC-7BF2F6F620D5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66BB9AC9-785D-49BA-A974-2312BE450A97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2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2026/9/19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EBFB8B9D-A149-4A3B-A4E2-DCFDA7479854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26000" y="1905000"/>
            <a:ext cx="2540000" cy="762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56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Dance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19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4F46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实时人体动作捕捉与评分系统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572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878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摄像头 · MediaPipe · Three.js · 骨骼归一化与动作评分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457200"/>
            <a:ext cx="10515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6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整体思路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570">
            <a:off x="838234" y="1238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81095" y="222250"/>
            <a:ext cx="4192905" cy="6229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406400"/>
            <a:ext cx="105156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开发里程碑（M0 – M5）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570">
            <a:off x="838234" y="1111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38200" y="1320800"/>
          <a:ext cx="105156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4572000"/>
                <a:gridCol w="4038600"/>
              </a:tblGrid>
              <a:tr h="457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里程碑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完成的硬标准（Definition of Done）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M0 跑起来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下载 pose_landmarker_full.task + .wasm 放本地；静态托管 frontend_dis/；摄像头点亮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浏览器里出画面，控制台无报错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M1 出数据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MediaPipe Tasks PoseLandmarker 放 Web Worker + GPU delegate；拿到 33 world landmarks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每帧能打印 33 个 (x,y,z)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12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M2 归一化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写 contract.js（§2 骨骼索引 + §1 坐标轴标定），把 landmark 转成 9 条骨骼单位向量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标定测试：右手抬起 → upper_arm_r 的 y 变大；转身/侧身不镜像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M3 画火柴人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2D canvas 画 9 条骨骼连线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30fps 不卡，画面跟手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M4 消抖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加一个轻量滤波（EMA 或 One Euro），别用重 Kalman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肉眼：手静止时线不抖，挥手时线不"拖尾巴"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M5 发布接口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暴露 startPoseStream({ onFrame })，产出契约 §3 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队友能拿到一帧 {t, bones, rootYaw, conf}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406400"/>
            <a:ext cx="105156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MediaPipe 媒体管道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570">
            <a:off x="838234" y="1111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838200" y="1371600"/>
            <a:ext cx="6223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pose_landmarker_full.task（8.96 MB）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：Google MediaPipe 官方的"人体姿态检测"模型。</a:t>
            </a:r>
            <a:endParaRPr lang="en-US" sz="1100"/>
          </a:p>
          <a:p>
            <a:pPr marL="190500" indent="-1905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MediaPipe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：Google 的"设备端 AI"框架，专门做轻量、能在浏览器/手机本地跑的模型。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底层叫 BlazePose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：Google 专门为人体姿态设计的神经网络。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.task 是一种打包格式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：把模型本身 + 输入输出规格 + 元数据打成一个文件，浏览器里用 WebAssembly + WebGL 就能加载运行，不需要服务器、不需要 Python。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它干一件事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：输入一张图片（或一帧视频），输出人体上的 33 个关键点。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0" y="1498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三个档位对比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493000" y="1981200"/>
          <a:ext cx="3937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016000"/>
                <a:gridCol w="1397000"/>
              </a:tblGrid>
              <a:tr h="482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特点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lite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~5 MB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快，精度低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full（当前）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~9 MB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精度/速度平衡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heavy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~26 MB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最准，最慢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81000"/>
            <a:ext cx="10515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0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33 个 World Landmark 从哪来、代表什么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570">
            <a:off x="838234" y="10604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838200" y="1270000"/>
            <a:ext cx="596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代表什么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：33 个点是人体解剖位置——鼻子、眼睛、耳朵、肩膀、手肘、手腕、指尖、髋、膝盖、脚踝、脚。每个点有固定编号（0–32），比如右肩 = 12、右肘 = 14、右腕 = 16。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从哪来——分两步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1000"/>
              </a:lnSpc>
              <a:buClr>
                <a:srgbClr val="33333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先找人在哪：一个"人体检测器"在画面里框出这个人；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1000"/>
              </a:lnSpc>
              <a:buClr>
                <a:srgbClr val="33333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再在框里估 33 个点：另一个网络在这个人身上回归出 33 个关键点的位置。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12000" y="1270000"/>
            <a:ext cx="4241800" cy="3175000"/>
          </a:xfrm>
          <a:prstGeom prst="roundRect">
            <a:avLst>
              <a:gd name="adj" fmla="val 0"/>
            </a:avLst>
          </a:prstGeom>
          <a:solidFill>
            <a:srgbClr val="EEF2FF">
              <a:alpha val="100000"/>
            </a:srgbClr>
          </a:solidFill>
          <a:ln w="12700" cap="flat" cmpd="sng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340600" y="1447800"/>
            <a:ext cx="37846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单目摄像头只能拍到 2D，模型怎么给出"米"为单位的 3D？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400" b="0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答案是：BlazePose 内部套了一个统计人体模型（GHUM）。它被喂过海量的真人 3D 动捕数据，学会了"一个合理的人体 3D 姿势长什么样"。所以它拿到 2D 的点之后，会把这些 2D 点"抬"到 3D，即拟合到一个它认为最可能的人体 3D 姿态上。</a:t>
            </a:r>
            <a:endParaRPr lang="en-US" sz="1400" b="0" i="0" u="none" strike="noStrike">
              <a:solidFill>
                <a:srgbClr val="1E1B4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838200" y="4673600"/>
          <a:ext cx="10515600" cy="139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3683000"/>
                <a:gridCol w="4038600"/>
              </a:tblGrid>
              <a:tr h="482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坐标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含义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landmarks（归一化）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x,y ∈ [0,1]，z 是相对值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贴在 2D 画面上的位置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worldLandmarks（世界坐标）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x,y,z 单位是米，原点在髋中点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模型估计的"真实 3D 姿态"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52450" y="264795"/>
            <a:ext cx="631063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</a:t>
            </a:r>
            <a:r>
              <a:rPr lang="en-US" altLang="zh-CN"/>
              <a:t>:12 </a:t>
            </a:r>
            <a:r>
              <a:rPr lang="zh-CN" altLang="en-US"/>
              <a:t>个点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加</a:t>
            </a:r>
            <a:r>
              <a:rPr lang="en-US" altLang="zh-CN"/>
              <a:t> 2 </a:t>
            </a:r>
            <a:r>
              <a:rPr lang="zh-CN" altLang="en-US"/>
              <a:t>个中点</a:t>
            </a:r>
            <a:endParaRPr lang="zh-CN" altLang="en-US"/>
          </a:p>
          <a:p>
            <a:r>
              <a:rPr lang="zh-CN" altLang="en-US"/>
              <a:t>我们从</a:t>
            </a:r>
            <a:r>
              <a:rPr lang="en-US" altLang="zh-CN"/>
              <a:t> MediaPipe </a:t>
            </a:r>
            <a:r>
              <a:rPr lang="zh-CN" altLang="en-US"/>
              <a:t>的</a:t>
            </a:r>
            <a:r>
              <a:rPr lang="en-US" altLang="zh-CN"/>
              <a:t> 33 </a:t>
            </a:r>
            <a:r>
              <a:rPr lang="zh-CN" altLang="en-US"/>
              <a:t>个点里只取</a:t>
            </a:r>
            <a:r>
              <a:rPr lang="en-US" altLang="zh-CN"/>
              <a:t> 12 </a:t>
            </a:r>
            <a:r>
              <a:rPr lang="zh-CN" altLang="en-US"/>
              <a:t>个</a:t>
            </a:r>
            <a:r>
              <a:rPr lang="en-US" altLang="zh-CN"/>
              <a:t>(</a:t>
            </a:r>
            <a:r>
              <a:rPr lang="zh-CN" altLang="en-US"/>
              <a:t>都在肢体上</a:t>
            </a:r>
            <a:r>
              <a:rPr lang="en-US" altLang="zh-CN"/>
              <a:t>,</a:t>
            </a:r>
            <a:r>
              <a:rPr lang="zh-CN" altLang="en-US"/>
              <a:t>不是脸</a:t>
            </a:r>
            <a:r>
              <a:rPr lang="en-US" altLang="zh-CN"/>
              <a:t>):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复制</a:t>
            </a:r>
            <a:endParaRPr lang="zh-CN" altLang="en-US"/>
          </a:p>
          <a:p>
            <a:r>
              <a:rPr lang="zh-CN" altLang="en-US"/>
              <a:t>肩</a:t>
            </a:r>
            <a:r>
              <a:rPr lang="en-US" altLang="zh-CN"/>
              <a:t>(2)</a:t>
            </a:r>
            <a:r>
              <a:rPr lang="zh-CN" altLang="en-US"/>
              <a:t>、肘</a:t>
            </a:r>
            <a:r>
              <a:rPr lang="en-US" altLang="zh-CN"/>
              <a:t>(2)</a:t>
            </a:r>
            <a:r>
              <a:rPr lang="zh-CN" altLang="en-US"/>
              <a:t>、腕</a:t>
            </a:r>
            <a:r>
              <a:rPr lang="en-US" altLang="zh-CN"/>
              <a:t>(2)</a:t>
            </a:r>
            <a:r>
              <a:rPr lang="zh-CN" altLang="en-US"/>
              <a:t>、髋</a:t>
            </a:r>
            <a:r>
              <a:rPr lang="en-US" altLang="zh-CN"/>
              <a:t>(2)</a:t>
            </a:r>
            <a:r>
              <a:rPr lang="zh-CN" altLang="en-US"/>
              <a:t>、膝</a:t>
            </a:r>
            <a:r>
              <a:rPr lang="en-US" altLang="zh-CN"/>
              <a:t>(2)</a:t>
            </a:r>
            <a:r>
              <a:rPr lang="zh-CN" altLang="en-US"/>
              <a:t>、踝</a:t>
            </a:r>
            <a:r>
              <a:rPr lang="en-US" altLang="zh-CN"/>
              <a:t>(2)</a:t>
            </a:r>
            <a:endParaRPr lang="en-US" altLang="zh-CN"/>
          </a:p>
          <a:p>
            <a:r>
              <a:rPr lang="zh-CN" altLang="en-US"/>
              <a:t>然后用这</a:t>
            </a:r>
            <a:r>
              <a:rPr lang="en-US" altLang="zh-CN"/>
              <a:t> 12 </a:t>
            </a:r>
            <a:r>
              <a:rPr lang="zh-CN" altLang="en-US"/>
              <a:t>个点算出</a:t>
            </a:r>
            <a:r>
              <a:rPr lang="en-US" altLang="zh-CN"/>
              <a:t> 2 </a:t>
            </a:r>
            <a:r>
              <a:rPr lang="zh-CN" altLang="en-US"/>
              <a:t>个中间点</a:t>
            </a:r>
            <a:r>
              <a:rPr lang="en-US" altLang="zh-CN"/>
              <a:t>(</a:t>
            </a:r>
            <a:r>
              <a:rPr lang="zh-CN" altLang="en-US"/>
              <a:t>不是模型直接给的</a:t>
            </a:r>
            <a:r>
              <a:rPr lang="en-US" altLang="zh-CN"/>
              <a:t>):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复制</a:t>
            </a:r>
            <a:endParaRPr lang="zh-CN" altLang="en-US"/>
          </a:p>
          <a:p>
            <a:r>
              <a:rPr lang="en-US" altLang="zh-CN"/>
              <a:t>hips_center      = (</a:t>
            </a:r>
            <a:r>
              <a:rPr lang="zh-CN" altLang="en-US"/>
              <a:t>左髋</a:t>
            </a:r>
            <a:r>
              <a:rPr lang="en-US" altLang="zh-CN"/>
              <a:t> + </a:t>
            </a:r>
            <a:r>
              <a:rPr lang="zh-CN" altLang="en-US"/>
              <a:t>右髋</a:t>
            </a:r>
            <a:r>
              <a:rPr lang="en-US" altLang="zh-CN"/>
              <a:t>) </a:t>
            </a:r>
            <a:r>
              <a:rPr lang="" altLang="en-US"/>
              <a:t>÷</a:t>
            </a:r>
            <a:r>
              <a:rPr lang="en-US" altLang="zh-CN"/>
              <a:t> 2      </a:t>
            </a:r>
            <a:r>
              <a:rPr lang="en-US" altLang="en-US"/>
              <a:t>←</a:t>
            </a:r>
            <a:r>
              <a:rPr lang="en-US" altLang="zh-CN"/>
              <a:t> </a:t>
            </a:r>
            <a:r>
              <a:rPr lang="zh-CN" altLang="en-US"/>
              <a:t>身体的</a:t>
            </a:r>
            <a:r>
              <a:rPr lang="en-US" altLang="zh-CN"/>
              <a:t>"</a:t>
            </a:r>
            <a:r>
              <a:rPr lang="zh-CN" altLang="en-US"/>
              <a:t>根</a:t>
            </a:r>
            <a:r>
              <a:rPr lang="en-US" altLang="zh-CN"/>
              <a:t>"</a:t>
            </a:r>
            <a:endParaRPr lang="en-US" altLang="zh-CN"/>
          </a:p>
          <a:p>
            <a:r>
              <a:rPr lang="en-US" altLang="zh-CN"/>
              <a:t>shoulders_center = (</a:t>
            </a:r>
            <a:r>
              <a:rPr lang="zh-CN" altLang="en-US"/>
              <a:t>左肩</a:t>
            </a:r>
            <a:r>
              <a:rPr lang="en-US" altLang="zh-CN"/>
              <a:t> + </a:t>
            </a:r>
            <a:r>
              <a:rPr lang="zh-CN" altLang="en-US"/>
              <a:t>右肩</a:t>
            </a:r>
            <a:r>
              <a:rPr lang="en-US" altLang="zh-CN"/>
              <a:t>) </a:t>
            </a:r>
            <a:r>
              <a:rPr lang="" altLang="en-US"/>
              <a:t>÷</a:t>
            </a:r>
            <a:r>
              <a:rPr lang="en-US" altLang="zh-CN"/>
              <a:t> 2      </a:t>
            </a:r>
            <a:r>
              <a:rPr lang="en-US" altLang="en-US"/>
              <a:t>←</a:t>
            </a:r>
            <a:r>
              <a:rPr lang="en-US" altLang="zh-CN"/>
              <a:t> </a:t>
            </a:r>
            <a:r>
              <a:rPr lang="zh-CN" altLang="en-US"/>
              <a:t>躯干上端</a:t>
            </a:r>
            <a:endParaRPr lang="zh-CN" altLang="en-US"/>
          </a:p>
          <a:p>
            <a:r>
              <a:rPr lang="zh-CN" altLang="en-US"/>
              <a:t>第二步</a:t>
            </a:r>
            <a:r>
              <a:rPr lang="en-US" altLang="zh-CN"/>
              <a:t>:</a:t>
            </a:r>
            <a:r>
              <a:rPr lang="zh-CN" altLang="en-US"/>
              <a:t>每条骨骼</a:t>
            </a:r>
            <a:r>
              <a:rPr lang="en-US" altLang="zh-CN"/>
              <a:t> = </a:t>
            </a:r>
            <a:r>
              <a:rPr lang="zh-CN" altLang="en-US"/>
              <a:t>一个</a:t>
            </a:r>
            <a:r>
              <a:rPr lang="en-US" altLang="zh-CN"/>
              <a:t>"</a:t>
            </a:r>
            <a:r>
              <a:rPr lang="zh-CN" altLang="en-US"/>
              <a:t>子点减父点</a:t>
            </a:r>
            <a:r>
              <a:rPr lang="en-US" altLang="zh-CN"/>
              <a:t>"</a:t>
            </a:r>
            <a:r>
              <a:rPr lang="zh-CN" altLang="en-US"/>
              <a:t>的向量</a:t>
            </a:r>
            <a:endParaRPr lang="zh-CN" altLang="en-US"/>
          </a:p>
          <a:p>
            <a:r>
              <a:rPr lang="zh-CN" altLang="en-US"/>
              <a:t>骨骼的连接是固定的</a:t>
            </a:r>
            <a:r>
              <a:rPr lang="en-US" altLang="zh-CN"/>
              <a:t>(</a:t>
            </a:r>
            <a:r>
              <a:rPr lang="zh-CN" altLang="en-US"/>
              <a:t>父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子</a:t>
            </a:r>
            <a:r>
              <a:rPr lang="en-US" altLang="zh-CN"/>
              <a:t>),</a:t>
            </a:r>
            <a:r>
              <a:rPr lang="zh-CN" altLang="en-US"/>
              <a:t>比如</a:t>
            </a:r>
            <a:r>
              <a:rPr lang="en-US" altLang="zh-CN"/>
              <a:t>"</a:t>
            </a:r>
            <a:r>
              <a:rPr lang="zh-CN" altLang="en-US"/>
              <a:t>右上臂</a:t>
            </a:r>
            <a:r>
              <a:rPr lang="en-US" altLang="zh-CN"/>
              <a:t>" = </a:t>
            </a:r>
            <a:r>
              <a:rPr lang="zh-CN" altLang="en-US"/>
              <a:t>右肩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右肘。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对一条骨骼</a:t>
            </a:r>
            <a:r>
              <a:rPr lang="en-US" altLang="zh-CN"/>
              <a:t>,</a:t>
            </a:r>
            <a:r>
              <a:rPr lang="zh-CN" altLang="en-US"/>
              <a:t>父点</a:t>
            </a:r>
            <a:r>
              <a:rPr lang="en-US" altLang="zh-CN"/>
              <a:t> P</a:t>
            </a:r>
            <a:r>
              <a:rPr lang="zh-CN" altLang="en-US"/>
              <a:t>、子点</a:t>
            </a:r>
            <a:r>
              <a:rPr lang="en-US" altLang="zh-CN"/>
              <a:t> C,</a:t>
            </a:r>
            <a:r>
              <a:rPr lang="zh-CN" altLang="en-US"/>
              <a:t>向量就是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复制</a:t>
            </a:r>
            <a:endParaRPr lang="zh-CN" altLang="en-US"/>
          </a:p>
          <a:p>
            <a:r>
              <a:rPr lang="en-US" altLang="zh-CN"/>
              <a:t>v = C − P = (Cx−Px, Cy−Py, Cz−Pz)</a:t>
            </a:r>
            <a:endParaRPr lang="en-US" altLang="zh-CN"/>
          </a:p>
          <a:p>
            <a:r>
              <a:rPr lang="zh-CN" altLang="en-US"/>
              <a:t>举个真实数字</a:t>
            </a:r>
            <a:r>
              <a:rPr lang="en-US" altLang="zh-CN"/>
              <a:t>(</a:t>
            </a:r>
            <a:r>
              <a:rPr lang="zh-CN" altLang="en-US"/>
              <a:t>右臂自然下垂</a:t>
            </a:r>
            <a:r>
              <a:rPr lang="en-US" altLang="zh-CN"/>
              <a:t>):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复制</a:t>
            </a:r>
            <a:endParaRPr lang="zh-CN" altLang="en-US"/>
          </a:p>
          <a:p>
            <a:r>
              <a:rPr lang="zh-CN" altLang="en-US"/>
              <a:t>右肩</a:t>
            </a:r>
            <a:r>
              <a:rPr lang="en-US" altLang="zh-CN"/>
              <a:t> P = (0.30, 1.40, −0.20)  </a:t>
            </a:r>
            <a:r>
              <a:rPr lang="zh-CN" altLang="en-US"/>
              <a:t>米</a:t>
            </a:r>
            <a:endParaRPr lang="zh-CN" altLang="en-US"/>
          </a:p>
          <a:p>
            <a:r>
              <a:rPr lang="zh-CN" altLang="en-US"/>
              <a:t>右肘</a:t>
            </a:r>
            <a:r>
              <a:rPr lang="en-US" altLang="zh-CN"/>
              <a:t> C = (0.35, 1.10, −0.18)  </a:t>
            </a:r>
            <a:r>
              <a:rPr lang="zh-CN" altLang="en-US"/>
              <a:t>米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v = (0.35−0.30, 1.10−1.40, −0.18−(−0.20))</a:t>
            </a:r>
            <a:endParaRPr lang="en-US" altLang="zh-CN"/>
          </a:p>
          <a:p>
            <a:r>
              <a:rPr lang="en-US" altLang="zh-CN"/>
              <a:t>  = (0.05, −0.30, 0.02)</a:t>
            </a:r>
            <a:endParaRPr lang="en-US" altLang="zh-CN"/>
          </a:p>
          <a:p>
            <a:r>
              <a:rPr lang="zh-CN" altLang="en-US"/>
              <a:t>看这个向量的</a:t>
            </a:r>
            <a:r>
              <a:rPr lang="en-US" altLang="zh-CN"/>
              <a:t> y = −0.30,</a:t>
            </a:r>
            <a:r>
              <a:rPr lang="zh-CN" altLang="en-US"/>
              <a:t>是负的</a:t>
            </a:r>
            <a:r>
              <a:rPr lang="en-US" altLang="zh-CN"/>
              <a:t>——</a:t>
            </a:r>
            <a:r>
              <a:rPr lang="zh-CN" altLang="en-US"/>
              <a:t>因为肘在肩下方</a:t>
            </a:r>
            <a:r>
              <a:rPr lang="en-US" altLang="zh-CN"/>
              <a:t>,</a:t>
            </a:r>
            <a:r>
              <a:rPr lang="zh-CN" altLang="en-US"/>
              <a:t>符合</a:t>
            </a:r>
            <a:r>
              <a:rPr lang="en-US" altLang="zh-CN"/>
              <a:t>"</a:t>
            </a:r>
            <a:r>
              <a:rPr lang="zh-CN" altLang="en-US"/>
              <a:t>手臂下垂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299325" y="257810"/>
            <a:ext cx="4064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第三步</a:t>
            </a:r>
            <a:r>
              <a:rPr lang="en-US" altLang="zh-CN"/>
              <a:t>:</a:t>
            </a:r>
            <a:r>
              <a:rPr lang="zh-CN" altLang="en-US"/>
              <a:t>归一化</a:t>
            </a:r>
            <a:r>
              <a:rPr lang="en-US" altLang="zh-CN"/>
              <a:t> —— </a:t>
            </a:r>
            <a:r>
              <a:rPr lang="zh-CN" altLang="en-US"/>
              <a:t>除以长度</a:t>
            </a:r>
            <a:r>
              <a:rPr lang="en-US" altLang="zh-CN"/>
              <a:t>,</a:t>
            </a:r>
            <a:r>
              <a:rPr lang="zh-CN" altLang="en-US"/>
              <a:t>变成</a:t>
            </a:r>
            <a:r>
              <a:rPr lang="en-US" altLang="zh-CN"/>
              <a:t>"</a:t>
            </a:r>
            <a:r>
              <a:rPr lang="zh-CN" altLang="en-US"/>
              <a:t>单位向量</a:t>
            </a:r>
            <a:r>
              <a:rPr lang="en-US" altLang="zh-CN"/>
              <a:t>"</a:t>
            </a:r>
            <a:endParaRPr lang="en-US" altLang="zh-CN"/>
          </a:p>
          <a:p>
            <a:r>
              <a:rPr lang="zh-CN" altLang="en-US"/>
              <a:t>复制</a:t>
            </a:r>
            <a:endParaRPr lang="zh-CN" altLang="en-US"/>
          </a:p>
          <a:p>
            <a:r>
              <a:rPr lang="zh-CN" altLang="en-US"/>
              <a:t>长度</a:t>
            </a:r>
            <a:r>
              <a:rPr lang="en-US" altLang="zh-CN"/>
              <a:t> |v| = √(0.05</a:t>
            </a:r>
            <a:r>
              <a:rPr lang="en-US" altLang="en-US"/>
              <a:t>²</a:t>
            </a:r>
            <a:r>
              <a:rPr lang="en-US" altLang="zh-CN"/>
              <a:t> + 0.30</a:t>
            </a:r>
            <a:r>
              <a:rPr lang="en-US" altLang="en-US"/>
              <a:t>²</a:t>
            </a:r>
            <a:r>
              <a:rPr lang="en-US" altLang="zh-CN"/>
              <a:t> + 0.02</a:t>
            </a:r>
            <a:r>
              <a:rPr lang="en-US" altLang="en-US"/>
              <a:t>²</a:t>
            </a:r>
            <a:r>
              <a:rPr lang="en-US" altLang="zh-CN"/>
              <a:t>) ≈ 0.3048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单位向量</a:t>
            </a:r>
            <a:r>
              <a:rPr lang="en-US" altLang="zh-CN"/>
              <a:t> = v </a:t>
            </a:r>
            <a:r>
              <a:rPr lang="" altLang="en-US"/>
              <a:t>÷</a:t>
            </a:r>
            <a:r>
              <a:rPr lang="en-US" altLang="zh-CN"/>
              <a:t> |v| = (0.05/0.3048, −0.30/0.3048, 0.02/0.3048)</a:t>
            </a:r>
            <a:endParaRPr lang="en-US" altLang="zh-CN"/>
          </a:p>
          <a:p>
            <a:r>
              <a:rPr lang="en-US" altLang="zh-CN"/>
              <a:t>                  ≈ (0.164, −0.984, 0.066)</a:t>
            </a:r>
            <a:endParaRPr lang="en-US" altLang="zh-CN"/>
          </a:p>
          <a:p>
            <a:r>
              <a:rPr lang="zh-CN" altLang="en-US"/>
              <a:t>现在这个向量长度</a:t>
            </a:r>
            <a:r>
              <a:rPr lang="en-US" altLang="zh-CN"/>
              <a:t> = 1,</a:t>
            </a:r>
            <a:r>
              <a:rPr lang="zh-CN" altLang="en-US"/>
              <a:t>方向没变</a:t>
            </a:r>
            <a:r>
              <a:rPr lang="en-US" altLang="zh-CN"/>
              <a:t>,</a:t>
            </a:r>
            <a:r>
              <a:rPr lang="zh-CN" altLang="en-US"/>
              <a:t>仍然</a:t>
            </a:r>
            <a:r>
              <a:rPr lang="en-US" altLang="zh-CN"/>
              <a:t>"</a:t>
            </a:r>
            <a:r>
              <a:rPr lang="zh-CN" altLang="en-US"/>
              <a:t>几乎竖直向下</a:t>
            </a:r>
            <a:r>
              <a:rPr lang="en-US" altLang="zh-CN"/>
              <a:t>"(y ≈ −0.98)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为什么要做这步</a:t>
            </a:r>
            <a:r>
              <a:rPr lang="en-US" altLang="zh-CN"/>
              <a:t>?——</a:t>
            </a:r>
            <a:r>
              <a:rPr lang="zh-CN" altLang="en-US"/>
              <a:t>三种</a:t>
            </a:r>
            <a:r>
              <a:rPr lang="en-US" altLang="zh-CN"/>
              <a:t>"</a:t>
            </a:r>
            <a:r>
              <a:rPr lang="zh-CN" altLang="en-US"/>
              <a:t>不变性</a:t>
            </a:r>
            <a:r>
              <a:rPr lang="en-US" altLang="zh-CN"/>
              <a:t>"(</a:t>
            </a:r>
            <a:r>
              <a:rPr lang="zh-CN" altLang="en-US"/>
              <a:t>这是核心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/>
              <a:t>操作</a:t>
            </a:r>
            <a:r>
              <a:rPr lang="en-US" altLang="zh-CN"/>
              <a:t>	</a:t>
            </a:r>
            <a:r>
              <a:rPr lang="zh-CN" altLang="en-US"/>
              <a:t>消掉了什么污染</a:t>
            </a:r>
            <a:endParaRPr lang="zh-CN" altLang="en-US"/>
          </a:p>
          <a:p>
            <a:r>
              <a:rPr lang="zh-CN" altLang="en-US"/>
              <a:t>子点</a:t>
            </a:r>
            <a:r>
              <a:rPr lang="en-US" altLang="zh-CN"/>
              <a:t> </a:t>
            </a:r>
            <a:r>
              <a:rPr lang="zh-CN" altLang="en-US"/>
              <a:t>减</a:t>
            </a:r>
            <a:r>
              <a:rPr lang="en-US" altLang="zh-CN"/>
              <a:t> </a:t>
            </a:r>
            <a:r>
              <a:rPr lang="zh-CN" altLang="en-US"/>
              <a:t>父点</a:t>
            </a:r>
            <a:r>
              <a:rPr lang="en-US" altLang="zh-CN"/>
              <a:t>	</a:t>
            </a:r>
            <a:r>
              <a:rPr lang="zh-CN" altLang="en-US"/>
              <a:t>平移</a:t>
            </a:r>
            <a:r>
              <a:rPr lang="en-US" altLang="zh-CN"/>
              <a:t>:</a:t>
            </a:r>
            <a:r>
              <a:rPr lang="zh-CN" altLang="en-US"/>
              <a:t>人站在画面哪个位置</a:t>
            </a:r>
            <a:r>
              <a:rPr lang="en-US" altLang="zh-CN"/>
              <a:t>,</a:t>
            </a:r>
            <a:r>
              <a:rPr lang="zh-CN" altLang="en-US"/>
              <a:t>不影响结果</a:t>
            </a:r>
            <a:endParaRPr lang="zh-CN" altLang="en-US"/>
          </a:p>
          <a:p>
            <a:r>
              <a:rPr lang="zh-CN" altLang="en-US"/>
              <a:t>除以</a:t>
            </a:r>
            <a:r>
              <a:rPr lang="en-US" altLang="zh-CN"/>
              <a:t> </a:t>
            </a:r>
            <a:r>
              <a:rPr lang="zh-CN" altLang="en-US"/>
              <a:t>长度</a:t>
            </a:r>
            <a:r>
              <a:rPr lang="en-US" altLang="zh-CN"/>
              <a:t>	</a:t>
            </a:r>
            <a:r>
              <a:rPr lang="zh-CN" altLang="en-US"/>
              <a:t>缩放</a:t>
            </a:r>
            <a:r>
              <a:rPr lang="en-US" altLang="zh-CN"/>
              <a:t>:</a:t>
            </a:r>
            <a:r>
              <a:rPr lang="zh-CN" altLang="en-US"/>
              <a:t>人高矮、离镜头远近</a:t>
            </a:r>
            <a:r>
              <a:rPr lang="en-US" altLang="zh-CN"/>
              <a:t>,</a:t>
            </a:r>
            <a:r>
              <a:rPr lang="zh-CN" altLang="en-US"/>
              <a:t>不影响结果</a:t>
            </a:r>
            <a:endParaRPr lang="zh-CN" altLang="en-US"/>
          </a:p>
          <a:p>
            <a:r>
              <a:rPr lang="en-US" altLang="zh-CN"/>
              <a:t>(</a:t>
            </a:r>
            <a:r>
              <a:rPr lang="zh-CN" altLang="en-US"/>
              <a:t>结果是单位向量</a:t>
            </a:r>
            <a:r>
              <a:rPr lang="en-US" altLang="zh-CN"/>
              <a:t>)	</a:t>
            </a:r>
            <a:r>
              <a:rPr lang="zh-CN" altLang="en-US"/>
              <a:t>只留</a:t>
            </a:r>
            <a:r>
              <a:rPr lang="en-US" altLang="zh-CN"/>
              <a:t>"</a:t>
            </a:r>
            <a:r>
              <a:rPr lang="zh-CN" altLang="en-US"/>
              <a:t>方向</a:t>
            </a:r>
            <a:r>
              <a:rPr lang="en-US" altLang="zh-CN"/>
              <a:t>",</a:t>
            </a:r>
            <a:r>
              <a:rPr lang="zh-CN" altLang="en-US"/>
              <a:t>等价于关节角度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34250" y="4345305"/>
            <a:ext cx="4064000" cy="95313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zh-CN" altLang="en-US"/>
              <a:t>一个</a:t>
            </a:r>
            <a:r>
              <a:rPr lang="en-US" altLang="zh-CN"/>
              <a:t> 1.9 </a:t>
            </a:r>
            <a:r>
              <a:rPr lang="zh-CN" altLang="en-US"/>
              <a:t>米的人站得近</a:t>
            </a:r>
            <a:r>
              <a:rPr lang="en-US" altLang="zh-CN"/>
              <a:t>,</a:t>
            </a:r>
            <a:r>
              <a:rPr lang="zh-CN" altLang="en-US"/>
              <a:t>和一个</a:t>
            </a:r>
            <a:r>
              <a:rPr lang="en-US" altLang="zh-CN"/>
              <a:t> 1.6 </a:t>
            </a:r>
            <a:r>
              <a:rPr lang="zh-CN" altLang="en-US"/>
              <a:t>米的人站得远</a:t>
            </a:r>
            <a:r>
              <a:rPr lang="en-US" altLang="zh-CN"/>
              <a:t>,</a:t>
            </a:r>
            <a:r>
              <a:rPr lang="zh-CN" altLang="en-US"/>
              <a:t>只要做同一个挥手动作</a:t>
            </a:r>
            <a:r>
              <a:rPr lang="en-US" altLang="zh-CN"/>
              <a:t>,</a:t>
            </a:r>
            <a:r>
              <a:rPr lang="zh-CN" altLang="en-US"/>
              <a:t>他们算出来的骨骼单位向量几乎完全一样。</a:t>
            </a:r>
            <a:r>
              <a:rPr lang="en-US" altLang="zh-CN"/>
              <a:t> </a:t>
            </a:r>
            <a:r>
              <a:rPr lang="zh-CN" altLang="en-US"/>
              <a:t>于是评分比的是</a:t>
            </a:r>
            <a:r>
              <a:rPr lang="en-US" altLang="zh-CN"/>
              <a:t>"</a:t>
            </a:r>
            <a:r>
              <a:rPr lang="zh-CN" altLang="en-US"/>
              <a:t>动作像不像</a:t>
            </a:r>
            <a:r>
              <a:rPr lang="en-US" altLang="zh-CN"/>
              <a:t>",</a:t>
            </a:r>
            <a:r>
              <a:rPr lang="zh-CN" altLang="en-US"/>
              <a:t>而不是</a:t>
            </a:r>
            <a:r>
              <a:rPr lang="en-US" altLang="zh-CN"/>
              <a:t>"</a:t>
            </a:r>
            <a:r>
              <a:rPr lang="zh-CN" altLang="en-US"/>
              <a:t>谁高谁近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406400"/>
            <a:ext cx="105156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归一化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570">
            <a:off x="838234" y="1111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838200" y="1320800"/>
            <a:ext cx="5969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什么是"归一化"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：把原始坐标，变成"骨骼方向单位向量"。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举个具体例子，upper_arm_r（右肩→右肘）：</a:t>
            </a:r>
            <a:endParaRPr lang="en-US" sz="1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原始数据：右肩 (0.3, 1.4, -0.2)，右肘 (0.35, 1.1, -0.18)——这些是"米"为单位的绝对位置；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算向量：右肘 − 右肩 = (0.05, -0.3, 0.02)；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Font typeface="+mj-lt"/>
              <a:buAutoNum type="arabicPeriod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除以这个向量的长度，得到长度为 1 的向量（单位向量）。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12000" y="1320800"/>
            <a:ext cx="4241800" cy="4826000"/>
          </a:xfrm>
          <a:prstGeom prst="roundRect">
            <a:avLst>
              <a:gd name="adj" fmla="val 0"/>
            </a:avLst>
          </a:prstGeom>
          <a:solidFill>
            <a:srgbClr val="EEF2FF">
              <a:alpha val="100000"/>
            </a:srgbClr>
          </a:solidFill>
          <a:ln w="12700" cap="flat" cmpd="sng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340600" y="1498600"/>
            <a:ext cx="3784600" cy="447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为什么要做第 3 步？</a:t>
            </a:r>
            <a:r>
              <a:rPr lang="en-US" sz="1400" b="0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因为它让数据获得两个关键的不变性：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1E1B4B"/>
              </a:buClr>
              <a:buChar char="•"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平移不变</a:t>
            </a:r>
            <a:r>
              <a:rPr lang="en-US" sz="1400" b="0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：两个人相减，消掉了"人站在画面哪个位置"的影响。</a:t>
            </a:r>
            <a:endParaRPr lang="en-US" sz="1400" b="0" i="0" u="none" strike="noStrike">
              <a:solidFill>
                <a:srgbClr val="1E1B4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1E1B4B"/>
              </a:buClr>
              <a:buChar char="•"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缩放不变</a:t>
            </a:r>
            <a:r>
              <a:rPr lang="en-US" sz="1400" b="0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：除以长度，消掉了"人高矮、离镜头远近"的影响。</a:t>
            </a:r>
            <a:endParaRPr lang="en-US" sz="1400" b="0" i="0" u="none" strike="noStrike">
              <a:solidFill>
                <a:srgbClr val="1E1B4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结果就是：一个 1.9 米的人站得近，和一个 1.6 米的人站得远，只要做同样的挥手动作，upper_arm_r 这个向量几乎一样。评分就能公平地比"动作像不像"，而不是比"谁站得近、谁长得高"。</a:t>
            </a:r>
            <a:endParaRPr lang="en-US" sz="1400" b="0" i="0" u="none" strike="noStrike">
              <a:solidFill>
                <a:srgbClr val="1E1B4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</a:t>
            </a:r>
            <a:r>
              <a:rPr lang="en-US" sz="1400" b="0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：归一化 = 把"绝对位置（会被身高、距离污染）"转成"骨骼指向（只看姿势）"。</a:t>
            </a:r>
            <a:endParaRPr lang="en-US" sz="1400" b="0" i="0" u="none" strike="noStrike">
              <a:solidFill>
                <a:srgbClr val="1E1B4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81000"/>
            <a:ext cx="10515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0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坐标轴标定与锁定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570">
            <a:off x="838234" y="10604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838200" y="1244600"/>
            <a:ext cx="105156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归一化解决了"长度/位置"的问题，但还剩一个更隐蔽的问题：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。我们做实验发现：MediaPipe 给出来的原始世界坐标，它的 x、y、z 三个轴的方向和我们想要的是全反的。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"标定"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：通过物理实验（抬右手、伸右手），确定每个轴到底朝哪，然后把需要翻转的轴记录下来。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"锁定"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：把 {x:-1, y:-1, z:-1} 写进唯一一个地方（contract.js 的 AXIS_FLIP），并约定——你的实时管线用这个翻转；队友的离线参考管线也必须用同样的翻转。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为什么必须锁定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：如果两边不统一，你抬右手，在评分系统看来是"抬左手还往下"，评分直接全错。标定不是"调对了就行"，而是要固化成一条双方都必须遵守的合同条款。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651000" y="4318000"/>
          <a:ext cx="8890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064000"/>
                <a:gridCol w="3429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MediaPipe 原始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我们想要的（Canonical）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朝下（手臂下垂时 y≈+0.9）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F46E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朝上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朝表演者左侧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F46E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朝表演者右侧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1B4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朝远离镜头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F46E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朝镜头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457200"/>
            <a:ext cx="105156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技术链路总结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6570">
            <a:off x="838234" y="11620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508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ap="flat" cmpd="sng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2514600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BlazePose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2D 画面"猜"出 33 个 3D 点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667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ap="flat" cmpd="sng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794000" y="2514600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取骨骼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取其中一部分算骨骼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826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ap="flat" cmpd="sng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953000" y="2514600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标定轴向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统一坐标轴方向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985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ap="flat" cmpd="sng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112000" y="2514600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1B4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归一化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每根骨头压成单位向量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144000" y="2286000"/>
            <a:ext cx="2540000" cy="1651000"/>
          </a:xfrm>
          <a:prstGeom prst="roundRect">
            <a:avLst>
              <a:gd name="adj" fmla="val 9230"/>
            </a:avLst>
          </a:prstGeom>
          <a:solidFill>
            <a:srgbClr val="4F46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296400" y="2514600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契约帧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0E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只看姿势，不受身高/距离/朝向影响</a:t>
            </a:r>
            <a:endParaRPr lang="en-US" sz="1200" b="0" i="0" u="none" strike="noStrike">
              <a:solidFill>
                <a:srgbClr val="E0E7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482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模型（Google 的 BlazePose）从 2D 画面"猜"出 33 个 3D 点 → 我们取其中一部分算骨骼 → 标定统一坐标轴方向 → 归一化把每根骨头压成单位向量 → 得到一份"只看姿势、不受身高距离朝向影响"的契约帧。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853440" y="2143125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指标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含义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健康值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要警惕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FPS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端到端每秒处理的帧数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接近摄像头帧率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(30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或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60)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&lt; 25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说明有瓶颈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delegate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 / CPU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推理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看到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CPU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说明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没启用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,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会慢很多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detectForVideo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MediaPipe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推理耗时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大头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约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5–15ms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&gt; 33ms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就是瓶颈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createImageBitmap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取帧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~1–3ms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明显偏高说明分辨率太高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postprocess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平滑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拼帧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画图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&lt; 1ms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偏高说明画图逻辑重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48000" y="2628900"/>
            <a:ext cx="609600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MediaPipe </a:t>
            </a:r>
            <a:r>
              <a:rPr lang="zh-CN" altLang="en-US">
                <a:sym typeface="+mn-ea"/>
              </a:rPr>
              <a:t>是逐帧独立估计的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它不看上一帧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每帧都从头算一遍这</a:t>
            </a:r>
            <a:r>
              <a:rPr lang="en-US" altLang="zh-CN">
                <a:sym typeface="+mn-ea"/>
              </a:rPr>
              <a:t> 33 </a:t>
            </a:r>
            <a:r>
              <a:rPr lang="zh-CN" altLang="en-US">
                <a:sym typeface="+mn-ea"/>
              </a:rPr>
              <a:t>个点。每一帧的估计里都带着一点随机误差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噪声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。因为相邻两帧的误差是互不相关的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所以同一个点会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绕着真实位置乱颤</a:t>
            </a:r>
            <a:r>
              <a:rPr lang="en-US" altLang="zh-CN">
                <a:sym typeface="+mn-ea"/>
              </a:rPr>
              <a:t>":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>
                <a:sym typeface="+mn-ea"/>
              </a:rPr>
              <a:t>复制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真实位置</a:t>
            </a:r>
            <a:r>
              <a:rPr lang="en-US" altLang="zh-CN">
                <a:sym typeface="+mn-ea"/>
              </a:rPr>
              <a:t>:  </a:t>
            </a:r>
            <a:r>
              <a:rPr lang="en-US" altLang="en-US">
                <a:sym typeface="+mn-ea"/>
              </a:rPr>
              <a:t>────────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一条平滑的线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 marL="0" indent="0">
              <a:buNone/>
            </a:pPr>
            <a:r>
              <a:rPr lang="zh-CN" altLang="en-US">
                <a:sym typeface="+mn-ea"/>
              </a:rPr>
              <a:t>估计值</a:t>
            </a:r>
            <a:r>
              <a:rPr lang="en-US" altLang="zh-CN">
                <a:sym typeface="+mn-ea"/>
              </a:rPr>
              <a:t>:    </a:t>
            </a:r>
            <a:r>
              <a:rPr lang="en-US" altLang="en-US">
                <a:sym typeface="+mn-ea"/>
              </a:rPr>
              <a:t>─╱╲╱╲╱╲─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围着线上下抖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30555" y="295275"/>
            <a:ext cx="5080000" cy="13836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sz="1700" b="1">
                <a:solidFill>
                  <a:srgbClr val="0F1115"/>
                </a:solidFill>
                <a:latin typeface="-apple-system"/>
                <a:ea typeface="-apple-system"/>
              </a:rPr>
              <a:t>二、为什么不能简单</a:t>
            </a:r>
            <a:r>
              <a:rPr lang="en-US" altLang="zh-CN" sz="1700" b="1">
                <a:solidFill>
                  <a:srgbClr val="0F1115"/>
                </a:solidFill>
                <a:latin typeface="-apple-system"/>
                <a:ea typeface="-apple-system"/>
              </a:rPr>
              <a:t>"</a:t>
            </a:r>
            <a:r>
              <a:rPr lang="zh-CN" altLang="en-US" sz="1700" b="1">
                <a:solidFill>
                  <a:srgbClr val="0F1115"/>
                </a:solidFill>
                <a:latin typeface="-apple-system"/>
                <a:ea typeface="-apple-system"/>
              </a:rPr>
              <a:t>平均几帧</a:t>
            </a:r>
            <a:r>
              <a:rPr lang="en-US" altLang="zh-CN" sz="1700" b="1">
                <a:solidFill>
                  <a:srgbClr val="0F1115"/>
                </a:solidFill>
                <a:latin typeface="-apple-system"/>
                <a:ea typeface="-apple-system"/>
              </a:rPr>
              <a:t>"</a:t>
            </a:r>
            <a:r>
              <a:rPr lang="zh-CN" altLang="en-US" sz="1700" b="1">
                <a:solidFill>
                  <a:srgbClr val="0F1115"/>
                </a:solidFill>
                <a:latin typeface="-apple-system"/>
                <a:ea typeface="-apple-system"/>
              </a:rPr>
              <a:t>就解决</a:t>
            </a:r>
            <a:r>
              <a:rPr lang="en-US" altLang="zh-CN" sz="1700" b="1">
                <a:solidFill>
                  <a:srgbClr val="0F1115"/>
                </a:solidFill>
                <a:latin typeface="-apple-system"/>
                <a:ea typeface="-apple-system"/>
              </a:rPr>
              <a:t>——</a:t>
            </a:r>
            <a:r>
              <a:rPr lang="zh-CN" altLang="en-US" sz="1700" b="1">
                <a:solidFill>
                  <a:srgbClr val="0F1115"/>
                </a:solidFill>
                <a:latin typeface="-apple-system"/>
                <a:ea typeface="-apple-system"/>
              </a:rPr>
              <a:t>平滑和延迟是死对头</a:t>
            </a:r>
            <a:endParaRPr lang="zh-CN" altLang="en-US" sz="1700" b="1">
              <a:solidFill>
                <a:srgbClr val="0F1115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最直觉的办法是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"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取最近几帧平均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"(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低通滤波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)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。但这里有个绕不开的矛盾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: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630555" y="186118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滤波强度</a:t>
                      </a:r>
                      <a:endParaRPr lang="zh-CN" altLang="en-US" sz="1100" b="0"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效果</a:t>
                      </a:r>
                      <a:endParaRPr lang="zh-CN" altLang="en-US" sz="1100" b="0"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代价</a:t>
                      </a:r>
                      <a:endParaRPr lang="zh-CN" altLang="en-US" sz="1100" b="0"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弱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几乎不滤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100" b="0"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跟手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,</a:t>
                      </a: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无延迟</a:t>
                      </a:r>
                      <a:endParaRPr lang="zh-CN" altLang="en-US" sz="1100" b="0"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抖</a:t>
                      </a:r>
                      <a:endParaRPr lang="zh-CN" altLang="en-US" sz="1100" b="0"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强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狠滤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100" b="0"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顺滑</a:t>
                      </a:r>
                      <a:endParaRPr lang="zh-CN" altLang="en-US" sz="1100" b="0"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拖尾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——</a:t>
                      </a: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手动了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,</a:t>
                      </a: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线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"</a:t>
                      </a:r>
                      <a:r>
                        <a:rPr lang="zh-CN" altLang="en-US" sz="1100" b="0">
                          <a:latin typeface="-apple-system"/>
                          <a:ea typeface="-apple-system"/>
                        </a:rPr>
                        <a:t>慢慢追</a:t>
                      </a:r>
                      <a:r>
                        <a:rPr lang="en-US" altLang="zh-CN" sz="1100" b="0">
                          <a:latin typeface="-apple-system"/>
                          <a:ea typeface="-apple-system"/>
                        </a:rPr>
                        <a:t>"</a:t>
                      </a:r>
                      <a:endParaRPr lang="en-US" altLang="zh-CN" sz="1100" b="0"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84860" y="3629660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/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你旧仓库的红线为什么觉得延迟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?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就是这个原因。</a:t>
            </a:r>
            <a:r>
              <a:rPr lang="en-US" altLang="zh-CN" sz="900" b="0" i="0">
                <a:solidFill>
                  <a:srgbClr val="0F1115"/>
                </a:solidFill>
                <a:latin typeface="SF Mono"/>
                <a:ea typeface="SF Mono"/>
              </a:rPr>
              <a:t>backend_process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 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里的 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Kalman 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滤波把 </a:t>
            </a:r>
            <a:r>
              <a:rPr lang="en-US" altLang="zh-CN" sz="900" b="0" i="0">
                <a:solidFill>
                  <a:srgbClr val="0F1115"/>
                </a:solidFill>
                <a:latin typeface="SF Mono"/>
                <a:ea typeface="SF Mono"/>
              </a:rPr>
              <a:t>processNoiseCov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 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设成 </a:t>
            </a:r>
            <a:r>
              <a:rPr lang="en-US" altLang="zh-CN" sz="900" b="0" i="0">
                <a:solidFill>
                  <a:srgbClr val="0F1115"/>
                </a:solidFill>
                <a:latin typeface="SF Mono"/>
                <a:ea typeface="SF Mono"/>
              </a:rPr>
              <a:t>1e-4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(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极低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),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等于一个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固定的强低通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,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所以它顺滑但拖尾。</a:t>
            </a:r>
            <a:endParaRPr lang="zh-CN" altLang="en-US" sz="1200" b="0" i="0">
              <a:solidFill>
                <a:srgbClr val="0F1115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那能不能既顺滑又不拖尾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?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这就是 </a:t>
            </a:r>
            <a:r>
              <a:rPr lang="en-US" altLang="zh-CN" sz="1200" b="0" i="0">
                <a:solidFill>
                  <a:srgbClr val="0F1115"/>
                </a:solidFill>
                <a:latin typeface="-apple-system"/>
                <a:ea typeface="-apple-system"/>
              </a:rPr>
              <a:t>One Euro filter </a:t>
            </a:r>
            <a:r>
              <a:rPr lang="zh-CN" altLang="en-US" sz="1200" b="0" i="0">
                <a:solidFill>
                  <a:srgbClr val="0F1115"/>
                </a:solidFill>
                <a:latin typeface="-apple-system"/>
                <a:ea typeface="-apple-system"/>
              </a:rPr>
              <a:t>要解决的。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61365" y="754380"/>
            <a:ext cx="10515600" cy="4351338"/>
          </a:xfrm>
        </p:spPr>
        <p:txBody>
          <a:bodyPr>
            <a:normAutofit fontScale="75000"/>
          </a:bodyPr>
          <a:p>
            <a:pPr marL="0" indent="0">
              <a:buNone/>
            </a:pPr>
            <a:r>
              <a:rPr lang="zh-CN" altLang="en-US"/>
              <a:t>三、我用什么方法</a:t>
            </a:r>
            <a:r>
              <a:rPr lang="en-US" altLang="zh-CN"/>
              <a:t>:One Euro filter(</a:t>
            </a:r>
            <a:r>
              <a:rPr lang="zh-CN" altLang="en-US"/>
              <a:t>自适应低通</a:t>
            </a:r>
            <a:r>
              <a:rPr lang="en-US" altLang="zh-CN"/>
              <a:t>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核心思想一句话</a:t>
            </a:r>
            <a:r>
              <a:rPr lang="en-US" altLang="zh-CN"/>
              <a:t>:</a:t>
            </a:r>
            <a:r>
              <a:rPr lang="zh-CN" altLang="en-US"/>
              <a:t>滤波强度跟着</a:t>
            </a:r>
            <a:r>
              <a:rPr lang="en-US" altLang="zh-CN"/>
              <a:t>"</a:t>
            </a:r>
            <a:r>
              <a:rPr lang="zh-CN" altLang="en-US"/>
              <a:t>动作速度</a:t>
            </a:r>
            <a:r>
              <a:rPr lang="en-US" altLang="zh-CN"/>
              <a:t>"</a:t>
            </a:r>
            <a:r>
              <a:rPr lang="zh-CN" altLang="en-US"/>
              <a:t>自动变</a:t>
            </a:r>
            <a:r>
              <a:rPr lang="en-US" altLang="zh-CN"/>
              <a:t>——</a:t>
            </a:r>
            <a:r>
              <a:rPr lang="zh-CN" altLang="en-US"/>
              <a:t>你不动就狠滤</a:t>
            </a:r>
            <a:r>
              <a:rPr lang="en-US" altLang="zh-CN"/>
              <a:t>(</a:t>
            </a:r>
            <a:r>
              <a:rPr lang="zh-CN" altLang="en-US"/>
              <a:t>去抖</a:t>
            </a:r>
            <a:r>
              <a:rPr lang="en-US" altLang="zh-CN"/>
              <a:t>),</a:t>
            </a:r>
            <a:r>
              <a:rPr lang="zh-CN" altLang="en-US"/>
              <a:t>你一动就放松滤波</a:t>
            </a:r>
            <a:r>
              <a:rPr lang="en-US" altLang="zh-CN"/>
              <a:t>(</a:t>
            </a:r>
            <a:r>
              <a:rPr lang="zh-CN" altLang="en-US"/>
              <a:t>跟手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它分三步算</a:t>
            </a:r>
            <a:r>
              <a:rPr lang="en-US" altLang="zh-CN"/>
              <a:t>(</a:t>
            </a:r>
            <a:r>
              <a:rPr lang="zh-CN" altLang="en-US"/>
              <a:t>对应</a:t>
            </a:r>
            <a:r>
              <a:rPr lang="en-US" altLang="zh-CN"/>
              <a:t> filters.js </a:t>
            </a:r>
            <a:r>
              <a:rPr lang="zh-CN" altLang="en-US"/>
              <a:t>里的代码</a:t>
            </a:r>
            <a:r>
              <a:rPr lang="en-US" altLang="zh-CN"/>
              <a:t>):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第</a:t>
            </a:r>
            <a:r>
              <a:rPr lang="en-US" altLang="zh-CN"/>
              <a:t> 1 </a:t>
            </a:r>
            <a:r>
              <a:rPr lang="zh-CN" altLang="en-US"/>
              <a:t>步</a:t>
            </a:r>
            <a:r>
              <a:rPr lang="en-US" altLang="zh-CN"/>
              <a:t>:</a:t>
            </a:r>
            <a:r>
              <a:rPr lang="zh-CN" altLang="en-US"/>
              <a:t>估计</a:t>
            </a:r>
            <a:r>
              <a:rPr lang="en-US" altLang="zh-CN"/>
              <a:t>"</a:t>
            </a:r>
            <a:r>
              <a:rPr lang="zh-CN" altLang="en-US"/>
              <a:t>当前速度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复制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dx = (x_t - x_{t-1}) / dt        </a:t>
            </a:r>
            <a:r>
              <a:rPr lang="en-US" altLang="en-US"/>
              <a:t>←</a:t>
            </a:r>
            <a:r>
              <a:rPr lang="en-US" altLang="zh-CN"/>
              <a:t> </a:t>
            </a:r>
            <a:r>
              <a:rPr lang="zh-CN" altLang="en-US"/>
              <a:t>这一帧动了多少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x</a:t>
            </a:r>
            <a:r>
              <a:rPr lang="en-US" altLang="en-US"/>
              <a:t>̇</a:t>
            </a:r>
            <a:r>
              <a:rPr lang="en-US" altLang="zh-CN"/>
              <a:t> = </a:t>
            </a:r>
            <a:r>
              <a:rPr lang="zh-CN" altLang="en-US"/>
              <a:t>对</a:t>
            </a:r>
            <a:r>
              <a:rPr lang="en-US" altLang="zh-CN"/>
              <a:t> dx </a:t>
            </a:r>
            <a:r>
              <a:rPr lang="zh-CN" altLang="en-US"/>
              <a:t>再做一次低通</a:t>
            </a:r>
            <a:r>
              <a:rPr lang="en-US" altLang="zh-CN"/>
              <a:t>           </a:t>
            </a:r>
            <a:r>
              <a:rPr lang="en-US" altLang="en-US"/>
              <a:t>←</a:t>
            </a:r>
            <a:r>
              <a:rPr lang="en-US" altLang="zh-CN"/>
              <a:t> </a:t>
            </a:r>
            <a:r>
              <a:rPr lang="zh-CN" altLang="en-US"/>
              <a:t>把速度里的噪声也滤掉</a:t>
            </a:r>
            <a:r>
              <a:rPr lang="en-US" altLang="zh-CN"/>
              <a:t>,</a:t>
            </a:r>
            <a:r>
              <a:rPr lang="zh-CN" altLang="en-US"/>
              <a:t>得到稳定的速度估计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第</a:t>
            </a:r>
            <a:r>
              <a:rPr lang="en-US" altLang="zh-CN"/>
              <a:t> 2 </a:t>
            </a:r>
            <a:r>
              <a:rPr lang="zh-CN" altLang="en-US"/>
              <a:t>步</a:t>
            </a:r>
            <a:r>
              <a:rPr lang="en-US" altLang="zh-CN"/>
              <a:t>:</a:t>
            </a:r>
            <a:r>
              <a:rPr lang="zh-CN" altLang="en-US"/>
              <a:t>用速度决定</a:t>
            </a:r>
            <a:r>
              <a:rPr lang="en-US" altLang="zh-CN"/>
              <a:t>"</a:t>
            </a:r>
            <a:r>
              <a:rPr lang="zh-CN" altLang="en-US"/>
              <a:t>截止频率</a:t>
            </a:r>
            <a:r>
              <a:rPr lang="en-US" altLang="zh-CN"/>
              <a:t>"(</a:t>
            </a:r>
            <a:r>
              <a:rPr lang="zh-CN" altLang="en-US"/>
              <a:t>滤波强度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复制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fc = minCutoff + β </a:t>
            </a:r>
            <a:r>
              <a:rPr lang="en-US" altLang="en-US"/>
              <a:t>×</a:t>
            </a:r>
            <a:r>
              <a:rPr lang="en-US" altLang="zh-CN"/>
              <a:t> |x</a:t>
            </a:r>
            <a:r>
              <a:rPr lang="en-US" altLang="en-US"/>
              <a:t>̇</a:t>
            </a:r>
            <a:r>
              <a:rPr lang="en-US" altLang="zh-CN"/>
              <a:t>|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你静止时</a:t>
            </a:r>
            <a:r>
              <a:rPr lang="en-US" altLang="zh-CN"/>
              <a:t>,|x</a:t>
            </a:r>
            <a:r>
              <a:rPr lang="en-US" altLang="en-US"/>
              <a:t>̇</a:t>
            </a:r>
            <a:r>
              <a:rPr lang="en-US" altLang="zh-CN"/>
              <a:t>|≈0,</a:t>
            </a:r>
            <a:r>
              <a:rPr lang="zh-CN" altLang="en-US"/>
              <a:t>所以</a:t>
            </a:r>
            <a:r>
              <a:rPr lang="en-US" altLang="zh-CN"/>
              <a:t> fc≈minCutoff(</a:t>
            </a:r>
            <a:r>
              <a:rPr lang="zh-CN" altLang="en-US"/>
              <a:t>很低</a:t>
            </a:r>
            <a:r>
              <a:rPr lang="en-US" altLang="zh-CN"/>
              <a:t>)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强滤波</a:t>
            </a:r>
            <a:r>
              <a:rPr lang="en-US" altLang="zh-CN"/>
              <a:t>,</a:t>
            </a:r>
            <a:r>
              <a:rPr lang="zh-CN" altLang="en-US"/>
              <a:t>把抖压掉</a:t>
            </a:r>
            <a:r>
              <a:rPr lang="en-US" altLang="zh-CN"/>
              <a:t>;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你快速挥手时</a:t>
            </a:r>
            <a:r>
              <a:rPr lang="en-US" altLang="zh-CN"/>
              <a:t>,|x</a:t>
            </a:r>
            <a:r>
              <a:rPr lang="en-US" altLang="en-US"/>
              <a:t>̇</a:t>
            </a:r>
            <a:r>
              <a:rPr lang="en-US" altLang="zh-CN"/>
              <a:t>| </a:t>
            </a:r>
            <a:r>
              <a:rPr lang="zh-CN" altLang="en-US"/>
              <a:t>大</a:t>
            </a:r>
            <a:r>
              <a:rPr lang="en-US" altLang="zh-CN"/>
              <a:t>,fc </a:t>
            </a:r>
            <a:r>
              <a:rPr lang="zh-CN" altLang="en-US"/>
              <a:t>自动升高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弱滤波</a:t>
            </a:r>
            <a:r>
              <a:rPr lang="en-US" altLang="zh-CN"/>
              <a:t>,</a:t>
            </a:r>
            <a:r>
              <a:rPr lang="zh-CN" altLang="en-US"/>
              <a:t>线立刻跟上你的手。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第</a:t>
            </a:r>
            <a:r>
              <a:rPr lang="en-US" altLang="zh-CN"/>
              <a:t> 3 </a:t>
            </a:r>
            <a:r>
              <a:rPr lang="zh-CN" altLang="en-US"/>
              <a:t>步</a:t>
            </a:r>
            <a:r>
              <a:rPr lang="en-US" altLang="zh-CN"/>
              <a:t>:</a:t>
            </a:r>
            <a:r>
              <a:rPr lang="zh-CN" altLang="en-US"/>
              <a:t>按这个频率做一次指数平滑。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复制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α = 1 / (1 + τ/dt)              τ = 1/(2π·fc)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x</a:t>
            </a:r>
            <a:r>
              <a:rPr lang="en-US" altLang="en-US"/>
              <a:t>̂</a:t>
            </a:r>
            <a:r>
              <a:rPr lang="en-US" altLang="zh-CN"/>
              <a:t> = α·x + (1-α)·x</a:t>
            </a:r>
            <a:r>
              <a:rPr lang="en-US" altLang="en-US"/>
              <a:t>̂</a:t>
            </a:r>
            <a:r>
              <a:rPr lang="en-US" altLang="zh-CN"/>
              <a:t>_prev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α </a:t>
            </a:r>
            <a:r>
              <a:rPr lang="zh-CN" altLang="en-US"/>
              <a:t>接近</a:t>
            </a:r>
            <a:r>
              <a:rPr lang="en-US" altLang="zh-CN"/>
              <a:t> 1 = </a:t>
            </a:r>
            <a:r>
              <a:rPr lang="zh-CN" altLang="en-US"/>
              <a:t>相信新值</a:t>
            </a:r>
            <a:r>
              <a:rPr lang="en-US" altLang="zh-CN"/>
              <a:t>(</a:t>
            </a:r>
            <a:r>
              <a:rPr lang="zh-CN" altLang="en-US"/>
              <a:t>跟手</a:t>
            </a:r>
            <a:r>
              <a:rPr lang="en-US" altLang="zh-CN"/>
              <a:t>),α </a:t>
            </a:r>
            <a:r>
              <a:rPr lang="zh-CN" altLang="en-US"/>
              <a:t>接近</a:t>
            </a:r>
            <a:r>
              <a:rPr lang="en-US" altLang="zh-CN"/>
              <a:t> 0 = </a:t>
            </a:r>
            <a:r>
              <a:rPr lang="zh-CN" altLang="en-US"/>
              <a:t>相信历史</a:t>
            </a:r>
            <a:r>
              <a:rPr lang="en-US" altLang="zh-CN"/>
              <a:t>(</a:t>
            </a:r>
            <a:r>
              <a:rPr lang="zh-CN" altLang="en-US"/>
              <a:t>平滑</a:t>
            </a:r>
            <a:r>
              <a:rPr lang="en-US" altLang="zh-CN"/>
              <a:t>)</a:t>
            </a:r>
            <a:r>
              <a:rPr lang="zh-CN" altLang="en-US"/>
              <a:t>。因为</a:t>
            </a:r>
            <a:r>
              <a:rPr lang="en-US" altLang="zh-CN"/>
              <a:t> fc </a:t>
            </a:r>
            <a:r>
              <a:rPr lang="zh-CN" altLang="en-US"/>
              <a:t>是动态的</a:t>
            </a:r>
            <a:r>
              <a:rPr lang="en-US" altLang="zh-CN"/>
              <a:t>,α </a:t>
            </a:r>
            <a:r>
              <a:rPr lang="zh-CN" altLang="en-US"/>
              <a:t>也就动态了。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一句话</a:t>
            </a:r>
            <a:r>
              <a:rPr lang="en-US" altLang="zh-CN"/>
              <a:t>:</a:t>
            </a:r>
            <a:r>
              <a:rPr lang="zh-CN" altLang="en-US"/>
              <a:t>它不是一个固定强度的滤波器</a:t>
            </a:r>
            <a:r>
              <a:rPr lang="en-US" altLang="zh-CN"/>
              <a:t>,</a:t>
            </a:r>
            <a:r>
              <a:rPr lang="zh-CN" altLang="en-US"/>
              <a:t>而是一个</a:t>
            </a:r>
            <a:r>
              <a:rPr lang="en-US" altLang="zh-CN"/>
              <a:t>"</a:t>
            </a:r>
            <a:r>
              <a:rPr lang="zh-CN" altLang="en-US"/>
              <a:t>看情况给力度</a:t>
            </a:r>
            <a:r>
              <a:rPr lang="en-US" altLang="zh-CN"/>
              <a:t>"</a:t>
            </a:r>
            <a:r>
              <a:rPr lang="zh-CN" altLang="en-US"/>
              <a:t>的滤波器。</a:t>
            </a:r>
            <a:r>
              <a:rPr lang="en-US" altLang="zh-CN"/>
              <a:t> </a:t>
            </a:r>
            <a:r>
              <a:rPr lang="zh-CN" altLang="en-US"/>
              <a:t>这就是它和旧</a:t>
            </a:r>
            <a:r>
              <a:rPr lang="en-US" altLang="zh-CN"/>
              <a:t> Kalman </a:t>
            </a:r>
            <a:r>
              <a:rPr lang="zh-CN" altLang="en-US"/>
              <a:t>的本质区别</a:t>
            </a:r>
            <a:r>
              <a:rPr lang="en-US" altLang="zh-CN"/>
              <a:t>,</a:t>
            </a:r>
            <a:r>
              <a:rPr lang="zh-CN" altLang="en-US"/>
              <a:t>也是为什么它能在去抖的同时不拖尾。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产品</a:t>
            </a:r>
            <a:r>
              <a:rPr lang="zh-CN" altLang="en-US"/>
              <a:t>设计：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>
                <a:ea typeface="宋体" panose="02010600030101010101" pitchFamily="2" charset="-122"/>
              </a:rPr>
              <a:t>、全身模式：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zh-CN" altLang="en-US">
                <a:ea typeface="宋体" panose="02010600030101010101" pitchFamily="2" charset="-122"/>
              </a:rPr>
              <a:t>个点</a:t>
            </a:r>
            <a:r>
              <a:rPr lang="en-US" altLang="zh-CN">
                <a:ea typeface="宋体" panose="02010600030101010101" pitchFamily="2" charset="-122"/>
              </a:rPr>
              <a:t>+</a:t>
            </a:r>
            <a:r>
              <a:rPr lang="zh-CN" altLang="en-US">
                <a:ea typeface="宋体" panose="02010600030101010101" pitchFamily="2" charset="-122"/>
              </a:rPr>
              <a:t>头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、手势舞模式：上半身加手部</a:t>
            </a:r>
            <a:r>
              <a:rPr lang="zh-CN" altLang="en-US">
                <a:ea typeface="宋体" panose="02010600030101010101" pitchFamily="2" charset="-122"/>
              </a:rPr>
              <a:t>识别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P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4508</Words>
  <Application>WPS 演示</Application>
  <PresentationFormat/>
  <Paragraphs>329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Arial</vt:lpstr>
      <vt:lpstr>Noto Sans SC</vt:lpstr>
      <vt:lpstr>微软雅黑</vt:lpstr>
      <vt:lpstr>Calibri</vt:lpstr>
      <vt:lpstr>Arial Unicode MS</vt:lpstr>
      <vt:lpstr>Calibri</vt:lpstr>
      <vt:lpstr>-apple-system</vt:lpstr>
      <vt:lpstr>-apple-system</vt:lpstr>
      <vt:lpstr>Be Happy</vt:lpstr>
      <vt:lpstr>SF Mono</vt:lpstr>
      <vt:lpstr>Office 主题​​</vt:lpstr>
      <vt:lpstr>自定义主题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Terry</cp:lastModifiedBy>
  <cp:revision>2</cp:revision>
  <dcterms:created xsi:type="dcterms:W3CDTF">2026-09-19T11:06:51Z</dcterms:created>
  <dcterms:modified xsi:type="dcterms:W3CDTF">2026-09-19T14:08:46Z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50350DB60B234092A2943A970D4AE20C_12</vt:lpwstr>
  </property>
  <property fmtid="{D5CDD505-2E9C-101B-9397-08002B2CF9AE}" pid="3" name="KSOProductBuildVer">
    <vt:lpwstr>2052-12.1.0.25225</vt:lpwstr>
  </property>
</Properties>
</file>