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8" y="2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AI Dance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思路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54766" y="365125"/>
            <a:ext cx="4348423" cy="645423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838200" y="2444559"/>
          <a:ext cx="10515600" cy="31134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9780"/>
                <a:gridCol w="3557910"/>
                <a:gridCol w="3557910"/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里程碑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内容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完成的硬标准(Definition of Done)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M0 跑起来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下载 </a:t>
                      </a:r>
                      <a:r>
                        <a:rPr lang="zh-CN" sz="975">
                          <a:effectLst/>
                        </a:rPr>
                        <a:t>pose_landmarker_full.task</a:t>
                      </a:r>
                      <a:r>
                        <a:rPr lang="zh-CN" sz="1125">
                          <a:effectLst/>
                        </a:rPr>
                        <a:t> + </a:t>
                      </a:r>
                      <a:r>
                        <a:rPr lang="zh-CN" sz="975">
                          <a:effectLst/>
                        </a:rPr>
                        <a:t>.wasm</a:t>
                      </a:r>
                      <a:r>
                        <a:rPr lang="zh-CN" sz="1125">
                          <a:effectLst/>
                        </a:rPr>
                        <a:t> 放本地;静态托管 </a:t>
                      </a:r>
                      <a:r>
                        <a:rPr lang="zh-CN" sz="975">
                          <a:effectLst/>
                        </a:rPr>
                        <a:t>frontend_dis/</a:t>
                      </a:r>
                      <a:r>
                        <a:rPr lang="zh-CN" sz="1125">
                          <a:effectLst/>
                        </a:rPr>
                        <a:t>;摄像头点亮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浏览器里出画面,控制台无报错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M1 出数据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MediaPipe Tasks </a:t>
                      </a:r>
                      <a:r>
                        <a:rPr lang="zh-CN" sz="975">
                          <a:effectLst/>
                        </a:rPr>
                        <a:t>PoseLandmarker</a:t>
                      </a:r>
                      <a:r>
                        <a:rPr lang="zh-CN" sz="1125">
                          <a:effectLst/>
                        </a:rPr>
                        <a:t> 放 Web Worker + GPU delegate;拿到 33 world landmarks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每帧能打印 33 个 (x,y,z)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M2 归一化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写 </a:t>
                      </a:r>
                      <a:r>
                        <a:rPr lang="zh-CN" sz="975">
                          <a:effectLst/>
                        </a:rPr>
                        <a:t>contract.js</a:t>
                      </a:r>
                      <a:r>
                        <a:rPr lang="zh-CN" sz="1125">
                          <a:effectLst/>
                        </a:rPr>
                        <a:t>(§2 骨骼索引 + §1 坐标轴标定),把 landmark 转成 9 条骨骼单位向量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标定测试:右手抬起 → </a:t>
                      </a:r>
                      <a:r>
                        <a:rPr lang="zh-CN" sz="975">
                          <a:effectLst/>
                        </a:rPr>
                        <a:t>upper_arm_r</a:t>
                      </a:r>
                      <a:r>
                        <a:rPr lang="zh-CN" sz="1125">
                          <a:effectLst/>
                        </a:rPr>
                        <a:t> 的 y 变大;转身/侧身不镜像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M3 画火柴人</a:t>
                      </a:r>
                      <a:endParaRPr lang="zh-CN" sz="1125" b="0" i="0" dirty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2D canvas 画 9 条骨骼连线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30fps 不卡,画面跟手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M4 消抖</a:t>
                      </a:r>
                      <a:endParaRPr lang="zh-CN" sz="1125" b="0" i="0" dirty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加一个轻量滤波(EMA 或 One Euro),别用重 Kalman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肉眼:手静止时线不抖,挥手时线不"拖尾巴"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M5 发布接口</a:t>
                      </a:r>
                      <a:endParaRPr lang="zh-CN" sz="1125" b="0" i="0" dirty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暴露 </a:t>
                      </a:r>
                      <a:r>
                        <a:rPr lang="zh-CN" sz="975">
                          <a:effectLst/>
                        </a:rPr>
                        <a:t>startPoseStream({ onFrame })</a:t>
                      </a:r>
                      <a:r>
                        <a:rPr lang="zh-CN" sz="1125">
                          <a:effectLst/>
                        </a:rPr>
                        <a:t>,产出契约 §3 帧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队友能拿到一帧 </a:t>
                      </a:r>
                      <a:r>
                        <a:rPr lang="zh-CN" sz="975" dirty="0">
                          <a:effectLst/>
                        </a:rPr>
                        <a:t>{t, bones, rootYaw, conf}</a:t>
                      </a:r>
                      <a:endParaRPr lang="zh-CN" sz="1125" b="0" i="0" dirty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8692" y="412595"/>
            <a:ext cx="4191215" cy="30164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46839" y="1315556"/>
            <a:ext cx="47355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pose_landmarker_full.task(8.96 MB)是 </a:t>
            </a:r>
            <a:endParaRPr lang="en-US" altLang="zh-CN" dirty="0"/>
          </a:p>
          <a:p>
            <a:r>
              <a:rPr lang="zh-CN" altLang="zh-CN" b="1" dirty="0"/>
              <a:t>Google MediaPipe 官方的"人体姿态检测"模型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282813" y="2489528"/>
            <a:ext cx="1566864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zh-CN" altLang="zh-CN" b="1" dirty="0"/>
              <a:t>MediaPipe</a:t>
            </a:r>
            <a:r>
              <a:rPr lang="zh-CN" altLang="zh-CN" dirty="0"/>
              <a:t> = Google 的"设备端 AI"框架,专门做轻量、能在浏览器/手机本地跑的模型。</a:t>
            </a:r>
            <a:endParaRPr lang="zh-CN" altLang="zh-CN" dirty="0"/>
          </a:p>
          <a:p>
            <a:pPr lvl="0"/>
            <a:r>
              <a:rPr lang="zh-CN" altLang="zh-CN" dirty="0"/>
              <a:t>这个模型的底层叫 </a:t>
            </a:r>
            <a:r>
              <a:rPr lang="zh-CN" altLang="zh-CN" b="1" dirty="0"/>
              <a:t>BlazePose</a:t>
            </a:r>
            <a:r>
              <a:rPr lang="zh-CN" altLang="zh-CN" dirty="0"/>
              <a:t>——Google 专门为</a:t>
            </a:r>
            <a:r>
              <a:rPr lang="zh-CN" altLang="zh-CN" b="1" dirty="0"/>
              <a:t>人体姿态</a:t>
            </a:r>
            <a:r>
              <a:rPr lang="zh-CN" altLang="zh-CN" dirty="0"/>
              <a:t>设计的神经网络。</a:t>
            </a:r>
            <a:endParaRPr lang="zh-CN" altLang="zh-CN" dirty="0"/>
          </a:p>
          <a:p>
            <a:pPr lvl="0"/>
            <a:r>
              <a:rPr lang="zh-CN" altLang="zh-CN" dirty="0"/>
              <a:t>.task 是一种打包格式:把模型本身 + 输入输出规格 + 元数据打成一个文件,浏览器里用 WebAssembly + WebGL 就能加载运行,</a:t>
            </a:r>
            <a:r>
              <a:rPr lang="zh-CN" altLang="zh-CN" b="1" dirty="0"/>
              <a:t>不需要服务器、不需要 Python</a:t>
            </a:r>
            <a:r>
              <a:rPr lang="zh-CN" altLang="zh-CN" dirty="0"/>
              <a:t>。</a:t>
            </a:r>
            <a:endParaRPr lang="zh-CN" altLang="zh-CN" dirty="0"/>
          </a:p>
          <a:p>
            <a:r>
              <a:rPr lang="zh-CN" altLang="zh-CN" b="1" dirty="0"/>
              <a:t>它干一件事</a:t>
            </a:r>
            <a:r>
              <a:rPr lang="zh-CN" altLang="zh-CN" dirty="0"/>
              <a:t>:输入一张图片(或一帧视频),输出人体上的 33 个关键点。</a:t>
            </a:r>
            <a:endParaRPr lang="zh-CN" altLang="zh-CN" dirty="0"/>
          </a:p>
          <a:p>
            <a:endParaRPr lang="en-US" altLang="zh-CN" dirty="0"/>
          </a:p>
          <a:p>
            <a:r>
              <a:rPr lang="zh-CN" altLang="zh-CN" dirty="0"/>
              <a:t>它有三个档位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701666" y="4198395"/>
          <a:ext cx="5195364" cy="203132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9704"/>
                <a:gridCol w="1757830"/>
                <a:gridCol w="1757830"/>
              </a:tblGrid>
              <a:tr h="506915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版本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大小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特点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</a:tr>
              <a:tr h="508137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lite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~5 MB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快,精度低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508137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full(你现在用的)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~9 MB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精度/速度平衡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508137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heavy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~26 MB</a:t>
                      </a:r>
                      <a:endParaRPr lang="zh-CN" sz="1125" b="0" i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最准,最慢</a:t>
                      </a:r>
                      <a:endParaRPr lang="zh-CN" sz="1125" b="0" i="0" dirty="0">
                        <a:solidFill>
                          <a:srgbClr val="0F1115"/>
                        </a:solidFill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838200" y="4844177"/>
          <a:ext cx="10515600" cy="10279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99780"/>
                <a:gridCol w="3557910"/>
                <a:gridCol w="3557910"/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类型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坐标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含义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975">
                          <a:effectLst/>
                        </a:rPr>
                        <a:t>landmarks</a:t>
                      </a:r>
                      <a:r>
                        <a:rPr lang="zh-CN" sz="1125">
                          <a:effectLst/>
                        </a:rPr>
                        <a:t>(归一化)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x,y ∈ [0,1],z 是相对值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贴在 2D 画面上的位置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975">
                          <a:effectLst/>
                        </a:rPr>
                        <a:t>worldLandmarks</a:t>
                      </a:r>
                      <a:r>
                        <a:rPr lang="zh-CN" sz="1125">
                          <a:effectLst/>
                        </a:rPr>
                        <a:t>(世界坐标)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x,y,z 单位是米,原点在髋中点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模型估计的"真实 3D 姿态"</a:t>
                      </a:r>
                      <a:endParaRPr lang="zh-CN" sz="1125" b="0" dirty="0"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59542" y="617440"/>
            <a:ext cx="6096982" cy="480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</a:rPr>
              <a:t>33 个 world landmark 从哪来、代表什么</a:t>
            </a:r>
            <a:endParaRPr lang="zh-CN" altLang="zh-CN" sz="1800" b="1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代表什么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:33 个点是人体解剖位置——鼻子、眼睛、耳朵、肩膀、手肘、手腕、指尖、髋、膝盖、脚踝、脚。每个点有固定编号(0–32),比如右肩 = 12、右肘 = 14、右腕 = 16。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从哪来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——分两步: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spcBef>
                <a:spcPts val="120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先找人在哪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:一个"人体检测器"在画面里框出这个人;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spcBef>
                <a:spcPts val="450"/>
              </a:spcBef>
              <a:spcAft>
                <a:spcPts val="1200"/>
              </a:spcAft>
              <a:buFont typeface="+mj-lt"/>
              <a:buAutoNum type="arabicPeriod"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再在框里估 33 个点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:另一个网络在这个人身上回归出 33 个关键点的位置。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关键点来了:同一个模型输出"两套坐标":</a:t>
            </a:r>
            <a:endParaRPr lang="zh-CN" altLang="zh-CN" sz="1800" b="0" i="0" dirty="0">
              <a:solidFill>
                <a:srgbClr val="0F1115"/>
              </a:solidFill>
              <a:effectLst/>
              <a:latin typeface="-apple-system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492181" y="903128"/>
            <a:ext cx="43655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b="1" dirty="0"/>
              <a:t>单目摄像头只能拍到 2D,模型怎么给出"米"为单位的 3D?</a:t>
            </a:r>
            <a:endParaRPr lang="zh-CN" altLang="zh-CN" sz="1400" dirty="0"/>
          </a:p>
          <a:p>
            <a:r>
              <a:rPr lang="zh-CN" altLang="zh-CN" sz="1400" dirty="0"/>
              <a:t>答案是:BlazePose 内部套了一个</a:t>
            </a:r>
            <a:r>
              <a:rPr lang="zh-CN" altLang="zh-CN" sz="1400" b="1" dirty="0"/>
              <a:t>统计人体模型(GHUM)</a:t>
            </a:r>
            <a:r>
              <a:rPr lang="zh-CN" altLang="zh-CN" sz="1400" dirty="0"/>
              <a:t>。它被喂过海量的真人 3D 动捕数据,学会了"一个合理的人体 3D 姿势长什么样"。</a:t>
            </a:r>
            <a:endParaRPr lang="en-US" altLang="zh-CN" sz="1400" dirty="0"/>
          </a:p>
          <a:p>
            <a:r>
              <a:rPr lang="zh-CN" altLang="zh-CN" sz="1400" dirty="0"/>
              <a:t>所以它拿到 2D 的点之后,会</a:t>
            </a:r>
            <a:r>
              <a:rPr lang="zh-CN" altLang="zh-CN" sz="1400" b="1" dirty="0"/>
              <a:t>把这些 2D 点'抬'到 3D</a:t>
            </a:r>
            <a:r>
              <a:rPr lang="zh-CN" altLang="zh-CN" sz="1400" dirty="0"/>
              <a:t>,即拟合到一个它认为最可能的人体 3D 姿态上。</a:t>
            </a:r>
            <a:endParaRPr lang="zh-CN" altLang="zh-CN" sz="1400" dirty="0"/>
          </a:p>
          <a:p>
            <a:endParaRPr lang="zh-CN" alt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归一化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zh-CN" b="1" dirty="0"/>
              <a:t>什么是"归一化"</a:t>
            </a:r>
            <a:endParaRPr lang="zh-CN" altLang="zh-CN" b="1" dirty="0"/>
          </a:p>
          <a:p>
            <a:r>
              <a:rPr lang="zh-CN" altLang="zh-CN" dirty="0"/>
              <a:t>"归一化"在这里有具体含义:</a:t>
            </a:r>
            <a:r>
              <a:rPr lang="zh-CN" altLang="zh-CN" b="1" dirty="0"/>
              <a:t>把原始坐标,变成"骨骼方向单位向量"</a:t>
            </a:r>
            <a:r>
              <a:rPr lang="zh-CN" altLang="zh-CN" dirty="0"/>
              <a:t>。</a:t>
            </a:r>
            <a:endParaRPr lang="zh-CN" altLang="zh-CN" dirty="0"/>
          </a:p>
          <a:p>
            <a:r>
              <a:rPr lang="zh-CN" altLang="zh-CN" dirty="0"/>
              <a:t>举个具体例子,upper_arm_r(右肩→右肘):</a:t>
            </a:r>
            <a:endParaRPr lang="zh-CN" altLang="zh-CN" dirty="0"/>
          </a:p>
          <a:p>
            <a:pPr lvl="0"/>
            <a:r>
              <a:rPr lang="zh-CN" altLang="zh-CN" dirty="0"/>
              <a:t>原始数据:右肩坐标 (0.3, 1.4, -0.2),右肘 (0.35, 1.1, -0.18)——这些是"米"为单位的绝对位置。</a:t>
            </a:r>
            <a:endParaRPr lang="zh-CN" altLang="zh-CN" dirty="0"/>
          </a:p>
          <a:p>
            <a:pPr lvl="0"/>
            <a:r>
              <a:rPr lang="zh-CN" altLang="zh-CN" dirty="0"/>
              <a:t>算向量:右肘 − 右肩 = (0.05, −0.3, 0.02)。</a:t>
            </a:r>
            <a:endParaRPr lang="zh-CN" altLang="zh-CN" dirty="0"/>
          </a:p>
          <a:p>
            <a:pPr lvl="0"/>
            <a:r>
              <a:rPr lang="zh-CN" altLang="zh-CN" b="1" dirty="0"/>
              <a:t>除以这个向量的长度</a:t>
            </a:r>
            <a:r>
              <a:rPr lang="zh-CN" altLang="zh-CN" dirty="0"/>
              <a:t>,得到长度为 1 的向量(单位向量)。</a:t>
            </a:r>
            <a:endParaRPr lang="zh-CN" altLang="zh-CN" dirty="0"/>
          </a:p>
          <a:p>
            <a:r>
              <a:rPr lang="zh-CN" altLang="zh-CN" dirty="0"/>
              <a:t>为什么要做第 3 步?因为它让数据获得</a:t>
            </a:r>
            <a:r>
              <a:rPr lang="zh-CN" altLang="zh-CN" b="1" dirty="0"/>
              <a:t>两个关键的不变性</a:t>
            </a:r>
            <a:r>
              <a:rPr lang="zh-CN" altLang="zh-CN" dirty="0"/>
              <a:t>:</a:t>
            </a:r>
            <a:endParaRPr lang="zh-CN" altLang="zh-CN" dirty="0"/>
          </a:p>
          <a:p>
            <a:pPr lvl="0"/>
            <a:r>
              <a:rPr lang="zh-CN" altLang="zh-CN" b="1" dirty="0"/>
              <a:t>平移不变</a:t>
            </a:r>
            <a:r>
              <a:rPr lang="zh-CN" altLang="zh-CN" dirty="0"/>
              <a:t>:两个人相减,消掉了"人站在画面哪个位置"的影响。</a:t>
            </a:r>
            <a:endParaRPr lang="zh-CN" altLang="zh-CN" dirty="0"/>
          </a:p>
          <a:p>
            <a:pPr lvl="0"/>
            <a:r>
              <a:rPr lang="zh-CN" altLang="zh-CN" b="1" dirty="0"/>
              <a:t>缩放不变</a:t>
            </a:r>
            <a:r>
              <a:rPr lang="zh-CN" altLang="zh-CN" dirty="0"/>
              <a:t>:除以长度,消掉了"人高矮、离镜头远近"的影响。</a:t>
            </a:r>
            <a:endParaRPr lang="zh-CN" altLang="zh-CN" dirty="0"/>
          </a:p>
          <a:p>
            <a:r>
              <a:rPr lang="zh-CN" altLang="zh-CN" dirty="0"/>
              <a:t>结果就是:</a:t>
            </a:r>
            <a:r>
              <a:rPr lang="zh-CN" altLang="zh-CN" b="1" dirty="0"/>
              <a:t>一个 1.9 米的人、站得近,和一个 1.6 米的人、站得远,只要做同样的挥手动作,</a:t>
            </a:r>
            <a:r>
              <a:rPr lang="zh-CN" altLang="zh-CN" dirty="0"/>
              <a:t>upper_arm_r</a:t>
            </a:r>
            <a:r>
              <a:rPr lang="zh-CN" altLang="zh-CN" b="1" dirty="0"/>
              <a:t> 这个向量几乎一样</a:t>
            </a:r>
            <a:r>
              <a:rPr lang="zh-CN" altLang="zh-CN" dirty="0"/>
              <a:t>。评分就能公平地比"动作像不像",而不是比"谁站得近、谁长得高"。</a:t>
            </a:r>
            <a:endParaRPr lang="zh-CN" altLang="zh-CN" dirty="0"/>
          </a:p>
          <a:p>
            <a:r>
              <a:rPr lang="zh-CN" altLang="zh-CN" dirty="0"/>
              <a:t>一句话:归一化 = 把"绝对位置(会被身高、距离污染)"转成"骨骼指向(只看姿势)"。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726112" y="5195612"/>
          <a:ext cx="8081624" cy="13730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2856"/>
                <a:gridCol w="2734384"/>
                <a:gridCol w="2734384"/>
              </a:tblGrid>
              <a:tr h="301257"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轴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MediaPipe 原始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我们想要的(Canonical)</a:t>
                      </a:r>
                      <a:endParaRPr lang="zh-CN" sz="1125" b="0" dirty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</a:tr>
              <a:tr h="301983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y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朝下(所以手臂下垂时 y≈+0.9)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朝上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301983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x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朝表演者左侧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朝表演者右侧</a:t>
                      </a:r>
                      <a:endParaRPr lang="zh-CN" sz="1125" b="0" dirty="0"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  <a:tr h="301983"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z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>
                          <a:effectLst/>
                        </a:rPr>
                        <a:t>朝远离镜头</a:t>
                      </a:r>
                      <a:endParaRPr lang="zh-CN" sz="1125" b="0">
                        <a:effectLst/>
                        <a:latin typeface="-apple-system"/>
                      </a:endParaRPr>
                    </a:p>
                  </a:txBody>
                  <a:tcPr marL="101600" marR="101600" marT="63500" marB="6350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39000"/>
                        </a:lnSpc>
                        <a:buNone/>
                      </a:pPr>
                      <a:r>
                        <a:rPr lang="zh-CN" sz="1125" dirty="0">
                          <a:effectLst/>
                        </a:rPr>
                        <a:t>朝镜头</a:t>
                      </a:r>
                      <a:endParaRPr lang="zh-CN" sz="1125" b="0" dirty="0">
                        <a:effectLst/>
                        <a:latin typeface="-apple-system"/>
                      </a:endParaRPr>
                    </a:p>
                  </a:txBody>
                  <a:tcPr marL="101600" marT="63500" marB="63500" anchor="ctr"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12058" y="289326"/>
            <a:ext cx="10561319" cy="4649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0000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zh-CN" sz="1800" b="1" dirty="0">
                <a:solidFill>
                  <a:schemeClr val="tx1"/>
                </a:solidFill>
                <a:effectLst/>
                <a:latin typeface="+mn-lt"/>
              </a:rPr>
              <a:t>什么是"标定",为什么要"锁定"</a:t>
            </a:r>
            <a:endParaRPr lang="zh-CN" altLang="zh-CN" sz="1800" b="1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归一化解决了"长度/位置"的问题,但还剩一个更隐蔽的问题: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方向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。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我们做实验发现:MediaPipe 给出来的原始世界坐标,它的 x、y、z 三个轴的方向和我们想要的是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全反的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: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"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标定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"就是:通过物理实验(抬右手、伸右手),确定每个轴到底朝哪,然后把需要翻转的轴记录下来。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"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锁定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"就是:把 {x:-1, y:-1, z:-1} 写进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唯一一个地方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(contract.js 的 AXIS_FLIP),并且约定: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你的实时管线用这个翻转;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队友的离线参考管线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也必须用同样的翻转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。</a:t>
            </a:r>
            <a:endParaRPr lang="zh-CN" altLang="zh-CN" sz="1800" b="0" i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为什么必须"锁定"?因为如果两边不统一,你抬右手,在评分系统看来是"抬左手还往下",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评分直接全错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。所以标定不是"调对了就行",而是要固化成一条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双方都必须遵守的合同条款</a:t>
            </a:r>
            <a:r>
              <a:rPr lang="zh-CN" altLang="zh-CN" sz="1800" b="0" i="0" dirty="0">
                <a:solidFill>
                  <a:schemeClr val="tx1"/>
                </a:solidFill>
                <a:effectLst/>
                <a:latin typeface="+mn-lt"/>
              </a:rPr>
              <a:t>。</a:t>
            </a:r>
            <a:endParaRPr lang="zh-CN" altLang="zh-CN" sz="1800" b="0" i="0" dirty="0">
              <a:solidFill>
                <a:srgbClr val="0F1115"/>
              </a:solidFill>
              <a:effectLst/>
              <a:latin typeface="-apple-syste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以上工作：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b="1" dirty="0"/>
              <a:t>模型</a:t>
            </a:r>
            <a:r>
              <a:rPr lang="zh-CN" altLang="zh-CN" dirty="0"/>
              <a:t>(Google 的 BlazePose)从 2D 画面"猜"出 33 个 3D 点 → 我们取其中一部分算骨骼 → </a:t>
            </a:r>
            <a:r>
              <a:rPr lang="zh-CN" altLang="zh-CN" b="1" dirty="0"/>
              <a:t>标定</a:t>
            </a:r>
            <a:r>
              <a:rPr lang="zh-CN" altLang="zh-CN" dirty="0"/>
              <a:t>统一坐标轴方向 → </a:t>
            </a:r>
            <a:r>
              <a:rPr lang="zh-CN" altLang="zh-CN" b="1" dirty="0"/>
              <a:t>归一化</a:t>
            </a:r>
            <a:r>
              <a:rPr lang="zh-CN" altLang="zh-CN" dirty="0"/>
              <a:t>把每根骨头压成单位向量 → 得到一份"只看姿势、不受身高距离朝向影响"的契约帧。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853440" y="2143125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指标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含义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健康值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要警惕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FPS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端到端每秒处理的帧数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接近摄像头帧率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(30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或 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60)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&lt; 25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说明有瓶颈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delegate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GPU / CPU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推理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GPU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看到 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CPU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说明 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GPU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没启用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,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会慢很多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detectForVideo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MediaPipe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推理耗时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(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大头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)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GPU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约 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5–15ms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&gt; 33ms 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就是瓶颈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createImageBitmap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取帧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~1–3ms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明显偏高说明分辨率太高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postprocess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0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平滑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拼帧</a:t>
                      </a: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画图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&lt; 1ms</a:t>
                      </a:r>
                      <a:endParaRPr lang="en-US" altLang="zh-CN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152717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875"/>
                        </a:lnSpc>
                      </a:pPr>
                      <a:r>
                        <a:rPr lang="zh-CN" altLang="en-US" sz="1100" b="0" i="0">
                          <a:solidFill>
                            <a:srgbClr val="0F1115"/>
                          </a:solidFill>
                          <a:latin typeface="-apple-system"/>
                          <a:ea typeface="-apple-system"/>
                        </a:rPr>
                        <a:t>偏高说明画图逻辑重</a:t>
                      </a:r>
                      <a:endParaRPr lang="zh-CN" altLang="en-US" sz="1100" b="0" i="0">
                        <a:solidFill>
                          <a:srgbClr val="0F1115"/>
                        </a:solidFill>
                        <a:latin typeface="-apple-system"/>
                        <a:ea typeface="-apple-system"/>
                      </a:endParaRPr>
                    </a:p>
                  </a:txBody>
                  <a:tcPr marL="152717" marR="0" marT="95567" marB="9556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2502</Words>
  <Application>WPS 演示</Application>
  <PresentationFormat>宽屏</PresentationFormat>
  <Paragraphs>212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宋体</vt:lpstr>
      <vt:lpstr>Wingdings</vt:lpstr>
      <vt:lpstr>-apple-system</vt:lpstr>
      <vt:lpstr>Liberation Mono</vt:lpstr>
      <vt:lpstr>Calibri</vt:lpstr>
      <vt:lpstr>微软雅黑</vt:lpstr>
      <vt:lpstr>Arial Unicode MS</vt:lpstr>
      <vt:lpstr>-apple-system</vt:lpstr>
      <vt:lpstr>Be Happy</vt:lpstr>
      <vt:lpstr>WPS</vt:lpstr>
      <vt:lpstr>AI Dance</vt:lpstr>
      <vt:lpstr>思路</vt:lpstr>
      <vt:lpstr>PowerPoint 演示文稿</vt:lpstr>
      <vt:lpstr>PowerPoint 演示文稿</vt:lpstr>
      <vt:lpstr>PowerPoint 演示文稿</vt:lpstr>
      <vt:lpstr>归一化</vt:lpstr>
      <vt:lpstr>PowerPoint 演示文稿</vt:lpstr>
      <vt:lpstr>以上工作：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Terry</cp:lastModifiedBy>
  <cp:revision>6</cp:revision>
  <dcterms:created xsi:type="dcterms:W3CDTF">2023-08-09T12:44:00Z</dcterms:created>
  <dcterms:modified xsi:type="dcterms:W3CDTF">2026-09-19T10:47:24Z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12B1B3F52CE74BA28082AFE39AB5992E_12</vt:lpwstr>
  </property>
</Properties>
</file>